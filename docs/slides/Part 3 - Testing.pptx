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970" cy="6858000"/>
  <p:notesSz cx="6858000" cy="1219197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this part starts, plant the bug (the recipe is in the repo’s testing guide) so the failing test is ready to show. The cup on this cover is amber on purpose: at the limit, which is exactly the boundary the planted bug gets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folder is a clone of the Part 2 repo with the tests added on top, so the history and tags carry over. The architecture already named the tools: Vitest for units, Playwright for the browser.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this back to Part 1: the decision to keep rules pure, with the clock passed in, was made for testability. This is where that decision pays off on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dry run the edge cases found unprompted were: days off, the start and end of the work day, the first reminder of a day with nothing logged yet, set times outside work hours, a set time missed while the laptop slept, a time zone other than the browser’s, both daylight-saving changes, and the daily limit hit exactly. The amber card is the planted-bug moment; details on the later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room wants a number: the dry run ended at 94 tests, 66 unit and 28 end-to-end, in about twenty-five seconds total. The first end-to-end run had six failures, all in the tests’ own selectors, fixed in one pass; that is a fair thing to admit.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Playwright over Cypress because the architecture already named it, it runs headless in CI, and its fake clock is what makes the next slide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Worth opening one reminder test in the file pane and reading it aloud: open the app, advance the clock, expect a notification. Three lines that would otherwise be a three-hour wait.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Verified in the dry run: the planted cut-off bug fails exactly one test with that expected-versus-received message, and the fix restores the comparison. Do not say which line you changed before asking for the fix; let the room watch the diagnosis.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Press run-all in the pane and talk over it; the dots are the visual. If anyone asks, the pane was itself built with Claude Code in the same session, which is a nice recursive beat to end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point that these tests are what Part 4’s pipeline gates on. Nothing in Part 4 would mean much without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F0C"/>
        </a:solidFill>
      </p:bgPr>
    </p:bg>
    <p:spTree>
      <p:nvGrpSpPr>
        <p:cNvPr id="1" name=""/>
        <p:cNvGrpSpPr/>
        <p:nvPr/>
      </p:nvGrpSpPr>
      <p:grpSpPr>
        <a:xfrm>
          <a:off x="0" y="0"/>
          <a:ext cx="0" cy="0"/>
          <a:chOff x="0" y="0"/>
          <a:chExt cx="0" cy="0"/>
        </a:xfrm>
      </p:grpSpPr>
      <p:sp>
        <p:nvSpPr>
          <p:cNvPr id="2" name="Text 0"/>
          <p:cNvSpPr/>
          <p:nvPr/>
        </p:nvSpPr>
        <p:spPr>
          <a:xfrm>
            <a:off x="812798" y="1741185"/>
            <a:ext cx="7721581" cy="196850"/>
          </a:xfrm>
          <a:prstGeom prst="rect">
            <a:avLst/>
          </a:prstGeom>
          <a:noFill/>
          <a:ln/>
        </p:spPr>
        <p:txBody>
          <a:bodyPr wrap="square" lIns="0" tIns="0" rIns="0" bIns="0" rtlCol="0" anchor="t"/>
          <a:lstStyle/>
          <a:p>
            <a:pPr algn="l" indent="0" marL="0">
              <a:lnSpc>
                <a:spcPts val="1440"/>
              </a:lnSpc>
              <a:buNone/>
            </a:pPr>
            <a:r>
              <a:rPr lang="en-US" sz="1200" spc="100" kern="0" dirty="0">
                <a:solidFill>
                  <a:srgbClr val="39FF88"/>
                </a:solidFill>
                <a:latin typeface="JetBrains Mono" pitchFamily="34" charset="0"/>
                <a:ea typeface="JetBrains Mono" pitchFamily="34" charset="-122"/>
                <a:cs typeface="JetBrains Mono" pitchFamily="34" charset="-120"/>
              </a:rPr>
              <a:t>BUILDING WITH CLAUDE CODE · CAFFEINE TRACKER</a:t>
            </a:r>
            <a:endParaRPr lang="en-US" sz="1200" dirty="0"/>
          </a:p>
        </p:txBody>
      </p:sp>
      <p:sp>
        <p:nvSpPr>
          <p:cNvPr id="3" name="Text 1"/>
          <p:cNvSpPr/>
          <p:nvPr/>
        </p:nvSpPr>
        <p:spPr>
          <a:xfrm>
            <a:off x="812798" y="2141234"/>
            <a:ext cx="7721581" cy="1600196"/>
          </a:xfrm>
          <a:prstGeom prst="rect">
            <a:avLst/>
          </a:prstGeom>
          <a:noFill/>
          <a:ln/>
        </p:spPr>
        <p:txBody>
          <a:bodyPr wrap="square" lIns="0" tIns="0" rIns="0" bIns="0" rtlCol="0" anchor="t"/>
          <a:lstStyle/>
          <a:p>
            <a:pPr algn="l" indent="0" marL="0">
              <a:lnSpc>
                <a:spcPts val="6300"/>
              </a:lnSpc>
              <a:buNone/>
            </a:pPr>
            <a:r>
              <a:rPr lang="en-US" sz="6000" b="1" dirty="0">
                <a:solidFill>
                  <a:srgbClr val="F4F6F1"/>
                </a:solidFill>
                <a:latin typeface="JetBrains Mono" pitchFamily="34" charset="0"/>
                <a:ea typeface="JetBrains Mono" pitchFamily="34" charset="-122"/>
                <a:cs typeface="JetBrains Mono" pitchFamily="34" charset="-120"/>
              </a:rPr>
              <a:t>Part 3</a:t>
            </a:r>
            <a:endParaRPr lang="en-US" sz="6000" dirty="0"/>
          </a:p>
          <a:p>
            <a:pPr algn="l" indent="0" marL="0">
              <a:lnSpc>
                <a:spcPts val="6300"/>
              </a:lnSpc>
              <a:buNone/>
            </a:pPr>
            <a:r>
              <a:rPr lang="en-US" sz="6000" b="1" dirty="0">
                <a:solidFill>
                  <a:srgbClr val="F4F6F1"/>
                </a:solidFill>
                <a:latin typeface="JetBrains Mono" pitchFamily="34" charset="0"/>
                <a:ea typeface="JetBrains Mono" pitchFamily="34" charset="-122"/>
                <a:cs typeface="JetBrains Mono" pitchFamily="34" charset="-120"/>
              </a:rPr>
              <a:t>Testing</a:t>
            </a:r>
            <a:endParaRPr lang="en-US" sz="6000" dirty="0"/>
          </a:p>
        </p:txBody>
      </p:sp>
      <p:sp>
        <p:nvSpPr>
          <p:cNvPr id="4" name="Text 2"/>
          <p:cNvSpPr/>
          <p:nvPr/>
        </p:nvSpPr>
        <p:spPr>
          <a:xfrm>
            <a:off x="812798" y="3944630"/>
            <a:ext cx="7721581" cy="568919"/>
          </a:xfrm>
          <a:prstGeom prst="rect">
            <a:avLst/>
          </a:prstGeom>
          <a:noFill/>
          <a:ln/>
        </p:spPr>
        <p:txBody>
          <a:bodyPr wrap="square" lIns="0" tIns="0" rIns="0" bIns="0" rtlCol="0" anchor="t"/>
          <a:lstStyle/>
          <a:p>
            <a:pPr algn="l" indent="0" marL="0">
              <a:lnSpc>
                <a:spcPts val="2240"/>
              </a:lnSpc>
              <a:buNone/>
            </a:pPr>
            <a:r>
              <a:rPr lang="en-US" sz="1600" dirty="0">
                <a:solidFill>
                  <a:srgbClr val="A9C9B3"/>
                </a:solidFill>
                <a:latin typeface="IBM Plex Sans" pitchFamily="34" charset="0"/>
                <a:ea typeface="IBM Plex Sans" pitchFamily="34" charset="-122"/>
                <a:cs typeface="IBM Plex Sans" pitchFamily="34" charset="-120"/>
              </a:rPr>
              <a:t>Three layers of tests, a clock the tests control, and a bug planted on purpose so the audience can watch it get caught.</a:t>
            </a:r>
            <a:endParaRPr lang="en-US" sz="1600" dirty="0"/>
          </a:p>
        </p:txBody>
      </p:sp>
      <p:sp>
        <p:nvSpPr>
          <p:cNvPr id="5" name="Text 3"/>
          <p:cNvSpPr/>
          <p:nvPr/>
        </p:nvSpPr>
        <p:spPr>
          <a:xfrm>
            <a:off x="812798" y="4716748"/>
            <a:ext cx="7721581" cy="196850"/>
          </a:xfrm>
          <a:prstGeom prst="rect">
            <a:avLst/>
          </a:prstGeom>
          <a:noFill/>
          <a:ln/>
        </p:spPr>
        <p:txBody>
          <a:bodyPr wrap="square" lIns="0" tIns="0" rIns="0" bIns="0" rtlCol="0" anchor="t"/>
          <a:lstStyle/>
          <a:p>
            <a:pPr algn="l" indent="0" marL="0">
              <a:lnSpc>
                <a:spcPts val="1440"/>
              </a:lnSpc>
              <a:buNone/>
            </a:pPr>
            <a:r>
              <a:rPr lang="en-US" sz="1200" dirty="0">
                <a:solidFill>
                  <a:srgbClr val="86B394"/>
                </a:solidFill>
                <a:latin typeface="JetBrains Mono" pitchFamily="34" charset="0"/>
                <a:ea typeface="JetBrains Mono" pitchFamily="34" charset="-122"/>
                <a:cs typeface="JetBrains Mono" pitchFamily="34" charset="-120"/>
              </a:rPr>
              <a:t>about 15 minutes · tag part-3-tests</a:t>
            </a:r>
            <a:endParaRPr lang="en-US" sz="1200" dirty="0"/>
          </a:p>
        </p:txBody>
      </p:sp>
      <p:sp>
        <p:nvSpPr>
          <p:cNvPr id="6" name="Shape 4"/>
          <p:cNvSpPr/>
          <p:nvPr/>
        </p:nvSpPr>
        <p:spPr>
          <a:xfrm>
            <a:off x="9474176" y="2613018"/>
            <a:ext cx="1142997" cy="1428746"/>
          </a:xfrm>
          <a:prstGeom prst="rect">
            <a:avLst/>
          </a:prstGeom>
          <a:ln w="95250">
            <a:solidFill>
              <a:srgbClr val="39FF88"/>
            </a:solidFill>
            <a:prstDash val="solid"/>
          </a:ln>
        </p:spPr>
      </p:sp>
      <p:sp>
        <p:nvSpPr>
          <p:cNvPr id="7" name="Shape 5"/>
          <p:cNvSpPr/>
          <p:nvPr/>
        </p:nvSpPr>
        <p:spPr>
          <a:xfrm>
            <a:off x="10617173" y="2994018"/>
            <a:ext cx="457199" cy="666748"/>
          </a:xfrm>
          <a:prstGeom prst="rect">
            <a:avLst/>
          </a:prstGeom>
          <a:ln w="95250">
            <a:solidFill>
              <a:srgbClr val="39FF88"/>
            </a:solidFill>
            <a:prstDash val="solid"/>
          </a:ln>
        </p:spPr>
      </p:sp>
      <p:sp>
        <p:nvSpPr>
          <p:cNvPr id="8" name="Shape 6"/>
          <p:cNvSpPr/>
          <p:nvPr/>
        </p:nvSpPr>
        <p:spPr>
          <a:xfrm>
            <a:off x="9569426" y="2708268"/>
            <a:ext cx="952498" cy="1238247"/>
          </a:xfrm>
          <a:prstGeom prst="rect">
            <a:avLst/>
          </a:prstGeom>
          <a:solidFill>
            <a:srgbClr val="FFB000">
              <a:alpha val="90000"/>
            </a:srgbClr>
          </a:solidFill>
          <a:ln/>
        </p:spPr>
      </p:sp>
      <p:sp>
        <p:nvSpPr>
          <p:cNvPr id="9" name="Shape 7"/>
          <p:cNvSpPr/>
          <p:nvPr/>
        </p:nvSpPr>
        <p:spPr>
          <a:xfrm>
            <a:off x="9283677" y="4156065"/>
            <a:ext cx="1714496" cy="114300"/>
          </a:xfrm>
          <a:prstGeom prst="rect">
            <a:avLst/>
          </a:prstGeom>
          <a:solidFill>
            <a:srgbClr val="24402C"/>
          </a:solidFill>
          <a:ln/>
        </p:spPr>
      </p:sp>
      <p:sp>
        <p:nvSpPr>
          <p:cNvPr id="10" name="Shape 8"/>
          <p:cNvSpPr/>
          <p:nvPr/>
        </p:nvSpPr>
        <p:spPr>
          <a:xfrm>
            <a:off x="9759926" y="2232019"/>
            <a:ext cx="76200" cy="76200"/>
          </a:xfrm>
          <a:prstGeom prst="rect">
            <a:avLst/>
          </a:prstGeom>
          <a:solidFill>
            <a:srgbClr val="86B394"/>
          </a:solidFill>
          <a:ln/>
        </p:spPr>
      </p:sp>
      <p:sp>
        <p:nvSpPr>
          <p:cNvPr id="11" name="Shape 9"/>
          <p:cNvSpPr/>
          <p:nvPr/>
        </p:nvSpPr>
        <p:spPr>
          <a:xfrm>
            <a:off x="9702776" y="2365369"/>
            <a:ext cx="76200" cy="76200"/>
          </a:xfrm>
          <a:prstGeom prst="rect">
            <a:avLst/>
          </a:prstGeom>
          <a:solidFill>
            <a:srgbClr val="86B394"/>
          </a:solidFill>
          <a:ln/>
        </p:spPr>
      </p:sp>
      <p:sp>
        <p:nvSpPr>
          <p:cNvPr id="12" name="Shape 10"/>
          <p:cNvSpPr/>
          <p:nvPr/>
        </p:nvSpPr>
        <p:spPr>
          <a:xfrm>
            <a:off x="10140925" y="2193920"/>
            <a:ext cx="76200" cy="76200"/>
          </a:xfrm>
          <a:prstGeom prst="rect">
            <a:avLst/>
          </a:prstGeom>
          <a:solidFill>
            <a:srgbClr val="86B394"/>
          </a:solidFill>
          <a:ln/>
        </p:spPr>
      </p:sp>
      <p:sp>
        <p:nvSpPr>
          <p:cNvPr id="13" name="Shape 11"/>
          <p:cNvSpPr/>
          <p:nvPr/>
        </p:nvSpPr>
        <p:spPr>
          <a:xfrm>
            <a:off x="10198075" y="2327269"/>
            <a:ext cx="76200" cy="76200"/>
          </a:xfrm>
          <a:prstGeom prst="rect">
            <a:avLst/>
          </a:prstGeom>
          <a:solidFill>
            <a:srgbClr val="86B394"/>
          </a:solidFill>
          <a:ln/>
        </p:spPr>
      </p:sp>
      <p:sp>
        <p:nvSpPr>
          <p:cNvPr id="14" name="Text 12"/>
          <p:cNvSpPr/>
          <p:nvPr/>
        </p:nvSpPr>
        <p:spPr>
          <a:xfrm>
            <a:off x="812798" y="6254734"/>
            <a:ext cx="10617173" cy="196850"/>
          </a:xfrm>
          <a:prstGeom prst="rect">
            <a:avLst/>
          </a:prstGeom>
          <a:noFill/>
          <a:ln/>
        </p:spPr>
        <p:txBody>
          <a:bodyPr wrap="square" lIns="0" tIns="0" rIns="0" bIns="0" rtlCol="0" anchor="t"/>
          <a:lstStyle/>
          <a:p>
            <a:pPr algn="l" indent="0" marL="0">
              <a:lnSpc>
                <a:spcPts val="1440"/>
              </a:lnSpc>
              <a:buNone/>
            </a:pPr>
            <a:r>
              <a:rPr lang="en-US" sz="1200" dirty="0">
                <a:solidFill>
                  <a:srgbClr val="86B394"/>
                </a:solidFill>
                <a:latin typeface="JetBrains Mono" pitchFamily="34" charset="0"/>
                <a:ea typeface="JetBrains Mono" pitchFamily="34" charset="-122"/>
                <a:cs typeface="JetBrains Mono" pitchFamily="34" charset="-120"/>
              </a:rPr>
              <a:t>~$ part 3 of 4 · architecture → app → tests → production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0F0C"/>
        </a:solidFill>
      </p:bgPr>
    </p:bg>
    <p:spTree>
      <p:nvGrpSpPr>
        <p:cNvPr id="1" name=""/>
        <p:cNvGrpSpPr/>
        <p:nvPr/>
      </p:nvGrpSpPr>
      <p:grpSpPr>
        <a:xfrm>
          <a:off x="0" y="0"/>
          <a:ext cx="0" cy="0"/>
          <a:chOff x="0" y="0"/>
          <a:chExt cx="0" cy="0"/>
        </a:xfrm>
      </p:grpSpPr>
      <p:sp>
        <p:nvSpPr>
          <p:cNvPr id="2" name="Text 0"/>
          <p:cNvSpPr/>
          <p:nvPr/>
        </p:nvSpPr>
        <p:spPr>
          <a:xfrm>
            <a:off x="812798" y="812798"/>
            <a:ext cx="10617173" cy="196850"/>
          </a:xfrm>
          <a:prstGeom prst="rect">
            <a:avLst/>
          </a:prstGeom>
          <a:noFill/>
          <a:ln/>
        </p:spPr>
        <p:txBody>
          <a:bodyPr wrap="square" lIns="0" tIns="0" rIns="0" bIns="0" rtlCol="0" anchor="t"/>
          <a:lstStyle/>
          <a:p>
            <a:pPr algn="l" indent="0" marL="0">
              <a:lnSpc>
                <a:spcPts val="1440"/>
              </a:lnSpc>
              <a:buNone/>
            </a:pPr>
            <a:r>
              <a:rPr lang="en-US" sz="1200" spc="100" kern="0" dirty="0">
                <a:solidFill>
                  <a:srgbClr val="39FF88"/>
                </a:solidFill>
                <a:latin typeface="JetBrains Mono" pitchFamily="34" charset="0"/>
                <a:ea typeface="JetBrains Mono" pitchFamily="34" charset="-122"/>
                <a:cs typeface="JetBrains Mono" pitchFamily="34" charset="-120"/>
              </a:rPr>
              <a:t>// THE FOUR PARTS</a:t>
            </a:r>
            <a:endParaRPr lang="en-US" sz="1200" dirty="0"/>
          </a:p>
        </p:txBody>
      </p:sp>
      <p:sp>
        <p:nvSpPr>
          <p:cNvPr id="3" name="Text 1"/>
          <p:cNvSpPr/>
          <p:nvPr/>
        </p:nvSpPr>
        <p:spPr>
          <a:xfrm>
            <a:off x="812798" y="1314447"/>
            <a:ext cx="10617173" cy="502839"/>
          </a:xfrm>
          <a:prstGeom prst="rect">
            <a:avLst/>
          </a:prstGeom>
          <a:noFill/>
          <a:ln/>
        </p:spPr>
        <p:txBody>
          <a:bodyPr wrap="square" lIns="0" tIns="0" rIns="0" bIns="0" rtlCol="0" anchor="t"/>
          <a:lstStyle/>
          <a:p>
            <a:pPr algn="l" indent="0" marL="0">
              <a:lnSpc>
                <a:spcPts val="3960"/>
              </a:lnSpc>
              <a:buNone/>
            </a:pPr>
            <a:r>
              <a:rPr lang="en-US" sz="3600" b="1" dirty="0">
                <a:solidFill>
                  <a:srgbClr val="39FF88"/>
                </a:solidFill>
                <a:latin typeface="JetBrains Mono" pitchFamily="34" charset="0"/>
                <a:ea typeface="JetBrains Mono" pitchFamily="34" charset="-122"/>
                <a:cs typeface="JetBrains Mono" pitchFamily="34" charset="-120"/>
              </a:rPr>
              <a:t>~$</a:t>
            </a:r>
            <a:pPr algn="l" indent="0" marL="0">
              <a:lnSpc>
                <a:spcPts val="3960"/>
              </a:lnSpc>
              <a:buNone/>
            </a:pPr>
            <a:r>
              <a:rPr lang="en-US" sz="3600" b="1" dirty="0">
                <a:solidFill>
                  <a:srgbClr val="F4F6F1"/>
                </a:solidFill>
                <a:latin typeface="JetBrains Mono" pitchFamily="34" charset="0"/>
                <a:ea typeface="JetBrains Mono" pitchFamily="34" charset="-122"/>
                <a:cs typeface="JetBrains Mono" pitchFamily="34" charset="-120"/>
              </a:rPr>
              <a:t> One app, four sittings</a:t>
            </a:r>
            <a:endParaRPr lang="en-US" sz="3600" dirty="0"/>
          </a:p>
        </p:txBody>
      </p:sp>
      <p:sp>
        <p:nvSpPr>
          <p:cNvPr id="4" name="Text 2"/>
          <p:cNvSpPr/>
          <p:nvPr/>
        </p:nvSpPr>
        <p:spPr>
          <a:xfrm>
            <a:off x="812798" y="2122085"/>
            <a:ext cx="10617173" cy="284459"/>
          </a:xfrm>
          <a:prstGeom prst="rect">
            <a:avLst/>
          </a:prstGeom>
          <a:noFill/>
          <a:ln/>
        </p:spPr>
        <p:txBody>
          <a:bodyPr wrap="square" lIns="0" tIns="0" rIns="0" bIns="0" rtlCol="0" anchor="t"/>
          <a:lstStyle/>
          <a:p>
            <a:pPr algn="l" indent="0" marL="0">
              <a:lnSpc>
                <a:spcPts val="2240"/>
              </a:lnSpc>
              <a:buNone/>
            </a:pPr>
            <a:r>
              <a:rPr lang="en-US" sz="1600" dirty="0">
                <a:solidFill>
                  <a:srgbClr val="A9C9B3"/>
                </a:solidFill>
                <a:latin typeface="IBM Plex Sans" pitchFamily="34" charset="0"/>
                <a:ea typeface="IBM Plex Sans" pitchFamily="34" charset="-122"/>
                <a:cs typeface="IBM Plex Sans" pitchFamily="34" charset="-120"/>
              </a:rPr>
              <a:t>The app works. Now it gets a test suite at three levels and a way to run them from inside Claude Code.</a:t>
            </a:r>
            <a:endParaRPr lang="en-US" sz="1600" dirty="0"/>
          </a:p>
        </p:txBody>
      </p:sp>
      <p:sp>
        <p:nvSpPr>
          <p:cNvPr id="5" name="Shape 3"/>
          <p:cNvSpPr/>
          <p:nvPr/>
        </p:nvSpPr>
        <p:spPr>
          <a:xfrm>
            <a:off x="812798" y="2711344"/>
            <a:ext cx="2486019" cy="2183005"/>
          </a:xfrm>
          <a:prstGeom prst="roundRect">
            <a:avLst>
              <a:gd name="adj" fmla="val 3491"/>
            </a:avLst>
          </a:prstGeom>
          <a:solidFill>
            <a:srgbClr val="111812"/>
          </a:solidFill>
          <a:ln w="9525">
            <a:solidFill>
              <a:srgbClr val="24402C"/>
            </a:solidFill>
            <a:prstDash val="solid"/>
          </a:ln>
        </p:spPr>
      </p:sp>
      <p:sp>
        <p:nvSpPr>
          <p:cNvPr id="6" name="Text 4"/>
          <p:cNvSpPr/>
          <p:nvPr/>
        </p:nvSpPr>
        <p:spPr>
          <a:xfrm>
            <a:off x="1047747" y="2946293"/>
            <a:ext cx="2066920" cy="368299"/>
          </a:xfrm>
          <a:prstGeom prst="rect">
            <a:avLst/>
          </a:prstGeom>
          <a:noFill/>
          <a:ln/>
        </p:spPr>
        <p:txBody>
          <a:bodyPr wrap="square" lIns="0" tIns="0" rIns="0" bIns="0" rtlCol="0" anchor="t"/>
          <a:lstStyle/>
          <a:p>
            <a:pPr algn="l" indent="0" marL="0">
              <a:lnSpc>
                <a:spcPts val="2640"/>
              </a:lnSpc>
              <a:buNone/>
            </a:pPr>
            <a:r>
              <a:rPr lang="en-US" sz="2200" b="1" dirty="0">
                <a:solidFill>
                  <a:srgbClr val="86B394"/>
                </a:solidFill>
                <a:latin typeface="JetBrains Mono" pitchFamily="34" charset="0"/>
                <a:ea typeface="JetBrains Mono" pitchFamily="34" charset="-122"/>
                <a:cs typeface="JetBrains Mono" pitchFamily="34" charset="-120"/>
              </a:rPr>
              <a:t>01</a:t>
            </a:r>
            <a:endParaRPr lang="en-US" sz="2200" dirty="0"/>
          </a:p>
        </p:txBody>
      </p:sp>
      <p:sp>
        <p:nvSpPr>
          <p:cNvPr id="7" name="Text 5"/>
          <p:cNvSpPr/>
          <p:nvPr/>
        </p:nvSpPr>
        <p:spPr>
          <a:xfrm>
            <a:off x="1047747" y="3390792"/>
            <a:ext cx="2066920" cy="266699"/>
          </a:xfrm>
          <a:prstGeom prst="rect">
            <a:avLst/>
          </a:prstGeom>
          <a:noFill/>
          <a:ln/>
        </p:spPr>
        <p:txBody>
          <a:bodyPr wrap="square" lIns="0" tIns="0" rIns="0" bIns="0" rtlCol="0" anchor="t"/>
          <a:lstStyle/>
          <a:p>
            <a:pPr algn="l" indent="0" marL="0">
              <a:lnSpc>
                <a:spcPts val="1920"/>
              </a:lnSpc>
              <a:buNone/>
            </a:pPr>
            <a:r>
              <a:rPr lang="en-US" sz="1600" b="1" dirty="0">
                <a:solidFill>
                  <a:srgbClr val="F4F6F1"/>
                </a:solidFill>
                <a:latin typeface="IBM Plex Sans" pitchFamily="34" charset="0"/>
                <a:ea typeface="IBM Plex Sans" pitchFamily="34" charset="-122"/>
                <a:cs typeface="IBM Plex Sans" pitchFamily="34" charset="-120"/>
              </a:rPr>
              <a:t>Architecture</a:t>
            </a:r>
            <a:endParaRPr lang="en-US" sz="1600" dirty="0"/>
          </a:p>
        </p:txBody>
      </p:sp>
      <p:sp>
        <p:nvSpPr>
          <p:cNvPr id="8" name="Text 6"/>
          <p:cNvSpPr/>
          <p:nvPr/>
        </p:nvSpPr>
        <p:spPr>
          <a:xfrm>
            <a:off x="1047747" y="3733691"/>
            <a:ext cx="2066920" cy="639959"/>
          </a:xfrm>
          <a:prstGeom prst="rect">
            <a:avLst/>
          </a:prstGeom>
          <a:noFill/>
          <a:ln/>
        </p:spPr>
        <p:txBody>
          <a:bodyPr wrap="square" lIns="0" tIns="0" rIns="0" bIns="0" rtlCol="0" anchor="t"/>
          <a:lstStyle/>
          <a:p>
            <a:pPr algn="l" indent="0" marL="0">
              <a:lnSpc>
                <a:spcPts val="1680"/>
              </a:lnSpc>
              <a:buNone/>
            </a:pPr>
            <a:r>
              <a:rPr lang="en-US" sz="1200" dirty="0">
                <a:solidFill>
                  <a:srgbClr val="A9C9B3"/>
                </a:solidFill>
                <a:latin typeface="IBM Plex Sans" pitchFamily="34" charset="0"/>
                <a:ea typeface="IBM Plex Sans" pitchFamily="34" charset="-122"/>
                <a:cs typeface="IBM Plex Sans" pitchFamily="34" charset="-120"/>
              </a:rPr>
              <a:t>Requirements, decisions, a diagram and a design canvas. Done.</a:t>
            </a:r>
            <a:endParaRPr lang="en-US" sz="1200" dirty="0"/>
          </a:p>
        </p:txBody>
      </p:sp>
      <p:sp>
        <p:nvSpPr>
          <p:cNvPr id="9" name="Shape 7"/>
          <p:cNvSpPr/>
          <p:nvPr/>
        </p:nvSpPr>
        <p:spPr>
          <a:xfrm>
            <a:off x="3502016" y="2711344"/>
            <a:ext cx="2486019" cy="2183005"/>
          </a:xfrm>
          <a:prstGeom prst="roundRect">
            <a:avLst>
              <a:gd name="adj" fmla="val 3491"/>
            </a:avLst>
          </a:prstGeom>
          <a:solidFill>
            <a:srgbClr val="111812"/>
          </a:solidFill>
          <a:ln w="9525">
            <a:solidFill>
              <a:srgbClr val="24402C"/>
            </a:solidFill>
            <a:prstDash val="solid"/>
          </a:ln>
        </p:spPr>
      </p:sp>
      <p:sp>
        <p:nvSpPr>
          <p:cNvPr id="10" name="Text 8"/>
          <p:cNvSpPr/>
          <p:nvPr/>
        </p:nvSpPr>
        <p:spPr>
          <a:xfrm>
            <a:off x="3736966" y="2946293"/>
            <a:ext cx="2066920" cy="368299"/>
          </a:xfrm>
          <a:prstGeom prst="rect">
            <a:avLst/>
          </a:prstGeom>
          <a:noFill/>
          <a:ln/>
        </p:spPr>
        <p:txBody>
          <a:bodyPr wrap="square" lIns="0" tIns="0" rIns="0" bIns="0" rtlCol="0" anchor="t"/>
          <a:lstStyle/>
          <a:p>
            <a:pPr algn="l" indent="0" marL="0">
              <a:lnSpc>
                <a:spcPts val="2640"/>
              </a:lnSpc>
              <a:buNone/>
            </a:pPr>
            <a:r>
              <a:rPr lang="en-US" sz="2200" b="1" dirty="0">
                <a:solidFill>
                  <a:srgbClr val="86B394"/>
                </a:solidFill>
                <a:latin typeface="JetBrains Mono" pitchFamily="34" charset="0"/>
                <a:ea typeface="JetBrains Mono" pitchFamily="34" charset="-122"/>
                <a:cs typeface="JetBrains Mono" pitchFamily="34" charset="-120"/>
              </a:rPr>
              <a:t>02</a:t>
            </a:r>
            <a:endParaRPr lang="en-US" sz="2200" dirty="0"/>
          </a:p>
        </p:txBody>
      </p:sp>
      <p:sp>
        <p:nvSpPr>
          <p:cNvPr id="11" name="Text 9"/>
          <p:cNvSpPr/>
          <p:nvPr/>
        </p:nvSpPr>
        <p:spPr>
          <a:xfrm>
            <a:off x="3736966" y="3390792"/>
            <a:ext cx="2066920" cy="266699"/>
          </a:xfrm>
          <a:prstGeom prst="rect">
            <a:avLst/>
          </a:prstGeom>
          <a:noFill/>
          <a:ln/>
        </p:spPr>
        <p:txBody>
          <a:bodyPr wrap="square" lIns="0" tIns="0" rIns="0" bIns="0" rtlCol="0" anchor="t"/>
          <a:lstStyle/>
          <a:p>
            <a:pPr algn="l" indent="0" marL="0">
              <a:lnSpc>
                <a:spcPts val="1920"/>
              </a:lnSpc>
              <a:buNone/>
            </a:pPr>
            <a:r>
              <a:rPr lang="en-US" sz="1600" b="1" dirty="0">
                <a:solidFill>
                  <a:srgbClr val="F4F6F1"/>
                </a:solidFill>
                <a:latin typeface="IBM Plex Sans" pitchFamily="34" charset="0"/>
                <a:ea typeface="IBM Plex Sans" pitchFamily="34" charset="-122"/>
                <a:cs typeface="IBM Plex Sans" pitchFamily="34" charset="-120"/>
              </a:rPr>
              <a:t>App building</a:t>
            </a:r>
            <a:endParaRPr lang="en-US" sz="1600" dirty="0"/>
          </a:p>
        </p:txBody>
      </p:sp>
      <p:sp>
        <p:nvSpPr>
          <p:cNvPr id="12" name="Text 10"/>
          <p:cNvSpPr/>
          <p:nvPr/>
        </p:nvSpPr>
        <p:spPr>
          <a:xfrm>
            <a:off x="3736966" y="3733691"/>
            <a:ext cx="2066920" cy="426640"/>
          </a:xfrm>
          <a:prstGeom prst="rect">
            <a:avLst/>
          </a:prstGeom>
          <a:noFill/>
          <a:ln/>
        </p:spPr>
        <p:txBody>
          <a:bodyPr wrap="square" lIns="0" tIns="0" rIns="0" bIns="0" rtlCol="0" anchor="t"/>
          <a:lstStyle/>
          <a:p>
            <a:pPr algn="l" indent="0" marL="0">
              <a:lnSpc>
                <a:spcPts val="1680"/>
              </a:lnSpc>
              <a:buNone/>
            </a:pPr>
            <a:r>
              <a:rPr lang="en-US" sz="1200" dirty="0">
                <a:solidFill>
                  <a:srgbClr val="A9C9B3"/>
                </a:solidFill>
                <a:latin typeface="IBM Plex Sans" pitchFamily="34" charset="0"/>
                <a:ea typeface="IBM Plex Sans" pitchFamily="34" charset="-122"/>
                <a:cs typeface="IBM Plex Sans" pitchFamily="34" charset="-120"/>
              </a:rPr>
              <a:t>A running app, checked in the browser. Done.</a:t>
            </a:r>
            <a:endParaRPr lang="en-US" sz="1200" dirty="0"/>
          </a:p>
        </p:txBody>
      </p:sp>
      <p:sp>
        <p:nvSpPr>
          <p:cNvPr id="13" name="Shape 11"/>
          <p:cNvSpPr/>
          <p:nvPr/>
        </p:nvSpPr>
        <p:spPr>
          <a:xfrm>
            <a:off x="6191235" y="2711344"/>
            <a:ext cx="2498719" cy="2183005"/>
          </a:xfrm>
          <a:prstGeom prst="roundRect">
            <a:avLst>
              <a:gd name="adj" fmla="val 3491"/>
            </a:avLst>
          </a:prstGeom>
          <a:solidFill>
            <a:srgbClr val="16201A"/>
          </a:solidFill>
          <a:ln w="12700">
            <a:solidFill>
              <a:srgbClr val="39FF88"/>
            </a:solidFill>
            <a:prstDash val="solid"/>
          </a:ln>
        </p:spPr>
      </p:sp>
      <p:sp>
        <p:nvSpPr>
          <p:cNvPr id="14" name="Text 12"/>
          <p:cNvSpPr/>
          <p:nvPr/>
        </p:nvSpPr>
        <p:spPr>
          <a:xfrm>
            <a:off x="6432534" y="2952643"/>
            <a:ext cx="2066920" cy="368299"/>
          </a:xfrm>
          <a:prstGeom prst="rect">
            <a:avLst/>
          </a:prstGeom>
          <a:noFill/>
          <a:ln/>
        </p:spPr>
        <p:txBody>
          <a:bodyPr wrap="square" lIns="0" tIns="0" rIns="0" bIns="0" rtlCol="0" anchor="t"/>
          <a:lstStyle/>
          <a:p>
            <a:pPr algn="l" indent="0" marL="0">
              <a:lnSpc>
                <a:spcPts val="2640"/>
              </a:lnSpc>
              <a:buNone/>
            </a:pPr>
            <a:r>
              <a:rPr lang="en-US" sz="2200" b="1" dirty="0">
                <a:solidFill>
                  <a:srgbClr val="39FF88"/>
                </a:solidFill>
                <a:latin typeface="JetBrains Mono" pitchFamily="34" charset="0"/>
                <a:ea typeface="JetBrains Mono" pitchFamily="34" charset="-122"/>
                <a:cs typeface="JetBrains Mono" pitchFamily="34" charset="-120"/>
              </a:rPr>
              <a:t>03</a:t>
            </a:r>
            <a:endParaRPr lang="en-US" sz="2200" dirty="0"/>
          </a:p>
        </p:txBody>
      </p:sp>
      <p:sp>
        <p:nvSpPr>
          <p:cNvPr id="15" name="Text 13"/>
          <p:cNvSpPr/>
          <p:nvPr/>
        </p:nvSpPr>
        <p:spPr>
          <a:xfrm>
            <a:off x="6432534" y="3397142"/>
            <a:ext cx="2066920" cy="266699"/>
          </a:xfrm>
          <a:prstGeom prst="rect">
            <a:avLst/>
          </a:prstGeom>
          <a:noFill/>
          <a:ln/>
        </p:spPr>
        <p:txBody>
          <a:bodyPr wrap="square" lIns="0" tIns="0" rIns="0" bIns="0" rtlCol="0" anchor="t"/>
          <a:lstStyle/>
          <a:p>
            <a:pPr algn="l" indent="0" marL="0">
              <a:lnSpc>
                <a:spcPts val="1920"/>
              </a:lnSpc>
              <a:buNone/>
            </a:pPr>
            <a:r>
              <a:rPr lang="en-US" sz="1600" b="1" dirty="0">
                <a:solidFill>
                  <a:srgbClr val="F4F6F1"/>
                </a:solidFill>
                <a:latin typeface="IBM Plex Sans" pitchFamily="34" charset="0"/>
                <a:ea typeface="IBM Plex Sans" pitchFamily="34" charset="-122"/>
                <a:cs typeface="IBM Plex Sans" pitchFamily="34" charset="-120"/>
              </a:rPr>
              <a:t>Testing</a:t>
            </a:r>
            <a:endParaRPr lang="en-US" sz="1600" dirty="0"/>
          </a:p>
        </p:txBody>
      </p:sp>
      <p:sp>
        <p:nvSpPr>
          <p:cNvPr id="16" name="Text 14"/>
          <p:cNvSpPr/>
          <p:nvPr/>
        </p:nvSpPr>
        <p:spPr>
          <a:xfrm>
            <a:off x="6432534" y="3740041"/>
            <a:ext cx="2066920" cy="639959"/>
          </a:xfrm>
          <a:prstGeom prst="rect">
            <a:avLst/>
          </a:prstGeom>
          <a:noFill/>
          <a:ln/>
        </p:spPr>
        <p:txBody>
          <a:bodyPr wrap="square" lIns="0" tIns="0" rIns="0" bIns="0" rtlCol="0" anchor="t"/>
          <a:lstStyle/>
          <a:p>
            <a:pPr algn="l" indent="0" marL="0">
              <a:lnSpc>
                <a:spcPts val="1680"/>
              </a:lnSpc>
              <a:buNone/>
            </a:pPr>
            <a:r>
              <a:rPr lang="en-US" sz="1200" dirty="0">
                <a:solidFill>
                  <a:srgbClr val="A9C9B3"/>
                </a:solidFill>
                <a:latin typeface="IBM Plex Sans" pitchFamily="34" charset="0"/>
                <a:ea typeface="IBM Plex Sans" pitchFamily="34" charset="-122"/>
                <a:cs typeface="IBM Plex Sans" pitchFamily="34" charset="-120"/>
              </a:rPr>
              <a:t>Unit and end-to-end tests, then a planted bug gets caught.</a:t>
            </a:r>
            <a:endParaRPr lang="en-US" sz="1200" dirty="0"/>
          </a:p>
        </p:txBody>
      </p:sp>
      <p:sp>
        <p:nvSpPr>
          <p:cNvPr id="17" name="Text 15"/>
          <p:cNvSpPr/>
          <p:nvPr/>
        </p:nvSpPr>
        <p:spPr>
          <a:xfrm>
            <a:off x="6432534" y="4456201"/>
            <a:ext cx="2066920" cy="196850"/>
          </a:xfrm>
          <a:prstGeom prst="rect">
            <a:avLst/>
          </a:prstGeom>
          <a:noFill/>
          <a:ln/>
        </p:spPr>
        <p:txBody>
          <a:bodyPr wrap="square" lIns="0" tIns="0" rIns="0" bIns="0" rtlCol="0" anchor="t"/>
          <a:lstStyle/>
          <a:p>
            <a:pPr algn="l" indent="0" marL="0">
              <a:lnSpc>
                <a:spcPts val="1440"/>
              </a:lnSpc>
              <a:buNone/>
            </a:pPr>
            <a:r>
              <a:rPr lang="en-US" sz="1200" dirty="0">
                <a:solidFill>
                  <a:srgbClr val="39FF88"/>
                </a:solidFill>
                <a:latin typeface="JetBrains Mono" pitchFamily="34" charset="0"/>
                <a:ea typeface="JetBrains Mono" pitchFamily="34" charset="-122"/>
                <a:cs typeface="JetBrains Mono" pitchFamily="34" charset="-120"/>
              </a:rPr>
              <a:t>you are here</a:t>
            </a:r>
            <a:endParaRPr lang="en-US" sz="1200" dirty="0"/>
          </a:p>
        </p:txBody>
      </p:sp>
      <p:sp>
        <p:nvSpPr>
          <p:cNvPr id="18" name="Shape 16"/>
          <p:cNvSpPr/>
          <p:nvPr/>
        </p:nvSpPr>
        <p:spPr>
          <a:xfrm>
            <a:off x="8893153" y="2711344"/>
            <a:ext cx="2486019" cy="2183005"/>
          </a:xfrm>
          <a:prstGeom prst="roundRect">
            <a:avLst>
              <a:gd name="adj" fmla="val 3491"/>
            </a:avLst>
          </a:prstGeom>
          <a:solidFill>
            <a:srgbClr val="111812"/>
          </a:solidFill>
          <a:ln w="9525">
            <a:solidFill>
              <a:srgbClr val="24402C"/>
            </a:solidFill>
            <a:prstDash val="solid"/>
          </a:ln>
        </p:spPr>
      </p:sp>
      <p:sp>
        <p:nvSpPr>
          <p:cNvPr id="19" name="Text 17"/>
          <p:cNvSpPr/>
          <p:nvPr/>
        </p:nvSpPr>
        <p:spPr>
          <a:xfrm>
            <a:off x="9128102" y="2946293"/>
            <a:ext cx="2066920" cy="368299"/>
          </a:xfrm>
          <a:prstGeom prst="rect">
            <a:avLst/>
          </a:prstGeom>
          <a:noFill/>
          <a:ln/>
        </p:spPr>
        <p:txBody>
          <a:bodyPr wrap="square" lIns="0" tIns="0" rIns="0" bIns="0" rtlCol="0" anchor="t"/>
          <a:lstStyle/>
          <a:p>
            <a:pPr algn="l" indent="0" marL="0">
              <a:lnSpc>
                <a:spcPts val="2640"/>
              </a:lnSpc>
              <a:buNone/>
            </a:pPr>
            <a:r>
              <a:rPr lang="en-US" sz="2200" b="1" dirty="0">
                <a:solidFill>
                  <a:srgbClr val="86B394"/>
                </a:solidFill>
                <a:latin typeface="JetBrains Mono" pitchFamily="34" charset="0"/>
                <a:ea typeface="JetBrains Mono" pitchFamily="34" charset="-122"/>
                <a:cs typeface="JetBrains Mono" pitchFamily="34" charset="-120"/>
              </a:rPr>
              <a:t>04</a:t>
            </a:r>
            <a:endParaRPr lang="en-US" sz="2200" dirty="0"/>
          </a:p>
        </p:txBody>
      </p:sp>
      <p:sp>
        <p:nvSpPr>
          <p:cNvPr id="20" name="Text 18"/>
          <p:cNvSpPr/>
          <p:nvPr/>
        </p:nvSpPr>
        <p:spPr>
          <a:xfrm>
            <a:off x="9128102" y="3390792"/>
            <a:ext cx="2066920" cy="266699"/>
          </a:xfrm>
          <a:prstGeom prst="rect">
            <a:avLst/>
          </a:prstGeom>
          <a:noFill/>
          <a:ln/>
        </p:spPr>
        <p:txBody>
          <a:bodyPr wrap="square" lIns="0" tIns="0" rIns="0" bIns="0" rtlCol="0" anchor="t"/>
          <a:lstStyle/>
          <a:p>
            <a:pPr algn="l" indent="0" marL="0">
              <a:lnSpc>
                <a:spcPts val="1920"/>
              </a:lnSpc>
              <a:buNone/>
            </a:pPr>
            <a:r>
              <a:rPr lang="en-US" sz="1600" b="1" dirty="0">
                <a:solidFill>
                  <a:srgbClr val="F4F6F1"/>
                </a:solidFill>
                <a:latin typeface="IBM Plex Sans" pitchFamily="34" charset="0"/>
                <a:ea typeface="IBM Plex Sans" pitchFamily="34" charset="-122"/>
                <a:cs typeface="IBM Plex Sans" pitchFamily="34" charset="-120"/>
              </a:rPr>
              <a:t>Production</a:t>
            </a:r>
            <a:endParaRPr lang="en-US" sz="1600" dirty="0"/>
          </a:p>
        </p:txBody>
      </p:sp>
      <p:sp>
        <p:nvSpPr>
          <p:cNvPr id="21" name="Text 19"/>
          <p:cNvSpPr/>
          <p:nvPr/>
        </p:nvSpPr>
        <p:spPr>
          <a:xfrm>
            <a:off x="9128102" y="3733691"/>
            <a:ext cx="2066920" cy="426640"/>
          </a:xfrm>
          <a:prstGeom prst="rect">
            <a:avLst/>
          </a:prstGeom>
          <a:noFill/>
          <a:ln/>
        </p:spPr>
        <p:txBody>
          <a:bodyPr wrap="square" lIns="0" tIns="0" rIns="0" bIns="0" rtlCol="0" anchor="t"/>
          <a:lstStyle/>
          <a:p>
            <a:pPr algn="l" indent="0" marL="0">
              <a:lnSpc>
                <a:spcPts val="1680"/>
              </a:lnSpc>
              <a:buNone/>
            </a:pPr>
            <a:r>
              <a:rPr lang="en-US" sz="1200" dirty="0">
                <a:solidFill>
                  <a:srgbClr val="A9C9B3"/>
                </a:solidFill>
                <a:latin typeface="IBM Plex Sans" pitchFamily="34" charset="0"/>
                <a:ea typeface="IBM Plex Sans" pitchFamily="34" charset="-122"/>
                <a:cs typeface="IBM Plex Sans" pitchFamily="34" charset="-120"/>
              </a:rPr>
              <a:t>CI, security headers, a review, and a live address.</a:t>
            </a:r>
            <a:endParaRPr lang="en-US" sz="1200" dirty="0"/>
          </a:p>
        </p:txBody>
      </p:sp>
      <p:sp>
        <p:nvSpPr>
          <p:cNvPr id="22" name="Text 20"/>
          <p:cNvSpPr/>
          <p:nvPr/>
        </p:nvSpPr>
        <p:spPr>
          <a:xfrm>
            <a:off x="812798" y="6254734"/>
            <a:ext cx="10617173" cy="196850"/>
          </a:xfrm>
          <a:prstGeom prst="rect">
            <a:avLst/>
          </a:prstGeom>
          <a:noFill/>
          <a:ln/>
        </p:spPr>
        <p:txBody>
          <a:bodyPr wrap="square" lIns="0" tIns="0" rIns="0" bIns="0" rtlCol="0" anchor="t"/>
          <a:lstStyle/>
          <a:p>
            <a:pPr algn="l" indent="0" marL="0">
              <a:lnSpc>
                <a:spcPts val="1440"/>
              </a:lnSpc>
              <a:buNone/>
            </a:pPr>
            <a:r>
              <a:rPr lang="en-US" sz="1200" dirty="0">
                <a:solidFill>
                  <a:srgbClr val="86B394"/>
                </a:solidFill>
                <a:latin typeface="JetBrains Mono" pitchFamily="34" charset="0"/>
                <a:ea typeface="JetBrains Mono" pitchFamily="34" charset="-122"/>
                <a:cs typeface="JetBrains Mono" pitchFamily="34" charset="-120"/>
              </a:rPr>
              <a:t>part 3 · testing</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7A3D"/>
        </a:solidFill>
      </p:bgPr>
    </p:bg>
    <p:spTree>
      <p:nvGrpSpPr>
        <p:cNvPr id="1" name=""/>
        <p:cNvGrpSpPr/>
        <p:nvPr/>
      </p:nvGrpSpPr>
      <p:grpSpPr>
        <a:xfrm>
          <a:off x="0" y="0"/>
          <a:ext cx="0" cy="0"/>
          <a:chOff x="0" y="0"/>
          <a:chExt cx="0" cy="0"/>
        </a:xfrm>
      </p:grpSpPr>
      <p:sp>
        <p:nvSpPr>
          <p:cNvPr id="2" name="Text 0"/>
          <p:cNvSpPr/>
          <p:nvPr/>
        </p:nvSpPr>
        <p:spPr>
          <a:xfrm>
            <a:off x="812798" y="1717671"/>
            <a:ext cx="10617173" cy="196850"/>
          </a:xfrm>
          <a:prstGeom prst="rect">
            <a:avLst/>
          </a:prstGeom>
          <a:noFill/>
          <a:ln/>
        </p:spPr>
        <p:txBody>
          <a:bodyPr wrap="square" lIns="0" tIns="0" rIns="0" bIns="0" rtlCol="0" anchor="t"/>
          <a:lstStyle/>
          <a:p>
            <a:pPr algn="l" indent="0" marL="0">
              <a:lnSpc>
                <a:spcPts val="1440"/>
              </a:lnSpc>
              <a:buNone/>
            </a:pPr>
            <a:r>
              <a:rPr lang="en-US" sz="1200" spc="100" kern="0" dirty="0">
                <a:solidFill>
                  <a:srgbClr val="D7F5DD"/>
                </a:solidFill>
                <a:latin typeface="JetBrains Mono" pitchFamily="34" charset="0"/>
                <a:ea typeface="JetBrains Mono" pitchFamily="34" charset="-122"/>
                <a:cs typeface="JetBrains Mono" pitchFamily="34" charset="-120"/>
              </a:rPr>
              <a:t>// THE GOAL OF PART 3</a:t>
            </a:r>
            <a:endParaRPr lang="en-US" sz="1200" dirty="0"/>
          </a:p>
        </p:txBody>
      </p:sp>
      <p:sp>
        <p:nvSpPr>
          <p:cNvPr id="3" name="Text 1"/>
          <p:cNvSpPr/>
          <p:nvPr/>
        </p:nvSpPr>
        <p:spPr>
          <a:xfrm>
            <a:off x="812798" y="2219319"/>
            <a:ext cx="10617173" cy="1843976"/>
          </a:xfrm>
          <a:prstGeom prst="rect">
            <a:avLst/>
          </a:prstGeom>
          <a:noFill/>
          <a:ln/>
        </p:spPr>
        <p:txBody>
          <a:bodyPr wrap="square" lIns="0" tIns="0" rIns="0" bIns="0" rtlCol="0" anchor="t"/>
          <a:lstStyle/>
          <a:p>
            <a:pPr algn="l" indent="0" marL="0">
              <a:lnSpc>
                <a:spcPts val="4840"/>
              </a:lnSpc>
              <a:buNone/>
            </a:pPr>
            <a:r>
              <a:rPr lang="en-US" sz="4400" b="1" dirty="0">
                <a:solidFill>
                  <a:srgbClr val="F4F6F1"/>
                </a:solidFill>
                <a:latin typeface="JetBrains Mono" pitchFamily="34" charset="0"/>
                <a:ea typeface="JetBrains Mono" pitchFamily="34" charset="-122"/>
                <a:cs typeface="JetBrains Mono" pitchFamily="34" charset="-120"/>
              </a:rPr>
              <a:t>Make the rules provable, and let the audience watch a bug get caught.</a:t>
            </a:r>
            <a:endParaRPr lang="en-US" sz="4400" dirty="0"/>
          </a:p>
        </p:txBody>
      </p:sp>
      <p:sp>
        <p:nvSpPr>
          <p:cNvPr id="4" name="Text 2"/>
          <p:cNvSpPr/>
          <p:nvPr/>
        </p:nvSpPr>
        <p:spPr>
          <a:xfrm>
            <a:off x="812798" y="4368095"/>
            <a:ext cx="8940778" cy="568919"/>
          </a:xfrm>
          <a:prstGeom prst="rect">
            <a:avLst/>
          </a:prstGeom>
          <a:noFill/>
          <a:ln/>
        </p:spPr>
        <p:txBody>
          <a:bodyPr wrap="square" lIns="0" tIns="0" rIns="0" bIns="0" rtlCol="0" anchor="t"/>
          <a:lstStyle/>
          <a:p>
            <a:pPr algn="l" indent="0" marL="0">
              <a:lnSpc>
                <a:spcPts val="2240"/>
              </a:lnSpc>
              <a:buNone/>
            </a:pPr>
            <a:r>
              <a:rPr lang="en-US" sz="1600" dirty="0">
                <a:solidFill>
                  <a:srgbClr val="D7F5DD"/>
                </a:solidFill>
                <a:latin typeface="IBM Plex Sans" pitchFamily="34" charset="0"/>
                <a:ea typeface="IBM Plex Sans" pitchFamily="34" charset="-122"/>
                <a:cs typeface="IBM Plex Sans" pitchFamily="34" charset="-120"/>
              </a:rPr>
              <a:t>The reminder logic was written as pure functions for exactly this: every edge case is one line of test, and a three-hour wait takes milliseconds.</a:t>
            </a:r>
            <a:endParaRPr lang="en-US" sz="1600" dirty="0"/>
          </a:p>
        </p:txBody>
      </p:sp>
      <p:sp>
        <p:nvSpPr>
          <p:cNvPr id="5" name="Text 3"/>
          <p:cNvSpPr/>
          <p:nvPr/>
        </p:nvSpPr>
        <p:spPr>
          <a:xfrm>
            <a:off x="812798" y="6254734"/>
            <a:ext cx="10617173" cy="196850"/>
          </a:xfrm>
          <a:prstGeom prst="rect">
            <a:avLst/>
          </a:prstGeom>
          <a:noFill/>
          <a:ln/>
        </p:spPr>
        <p:txBody>
          <a:bodyPr wrap="square" lIns="0" tIns="0" rIns="0" bIns="0" rtlCol="0" anchor="t"/>
          <a:lstStyle/>
          <a:p>
            <a:pPr algn="l" indent="0" marL="0">
              <a:lnSpc>
                <a:spcPts val="1440"/>
              </a:lnSpc>
              <a:buNone/>
            </a:pPr>
            <a:r>
              <a:rPr lang="en-US" sz="1200" dirty="0">
                <a:solidFill>
                  <a:srgbClr val="D7F5DD"/>
                </a:solidFill>
                <a:latin typeface="JetBrains Mono" pitchFamily="34" charset="0"/>
                <a:ea typeface="JetBrains Mono" pitchFamily="34" charset="-122"/>
                <a:cs typeface="JetBrains Mono" pitchFamily="34" charset="-120"/>
              </a:rPr>
              <a:t>part 3 · testing</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0F0C"/>
        </a:solidFill>
      </p:bgPr>
    </p:bg>
    <p:spTree>
      <p:nvGrpSpPr>
        <p:cNvPr id="1" name=""/>
        <p:cNvGrpSpPr/>
        <p:nvPr/>
      </p:nvGrpSpPr>
      <p:grpSpPr>
        <a:xfrm>
          <a:off x="0" y="0"/>
          <a:ext cx="0" cy="0"/>
          <a:chOff x="0" y="0"/>
          <a:chExt cx="0" cy="0"/>
        </a:xfrm>
      </p:grpSpPr>
      <p:sp>
        <p:nvSpPr>
          <p:cNvPr id="2" name="Text 0"/>
          <p:cNvSpPr/>
          <p:nvPr/>
        </p:nvSpPr>
        <p:spPr>
          <a:xfrm>
            <a:off x="812798" y="812798"/>
            <a:ext cx="10617173" cy="196850"/>
          </a:xfrm>
          <a:prstGeom prst="rect">
            <a:avLst/>
          </a:prstGeom>
          <a:noFill/>
          <a:ln/>
        </p:spPr>
        <p:txBody>
          <a:bodyPr wrap="square" lIns="0" tIns="0" rIns="0" bIns="0" rtlCol="0" anchor="t"/>
          <a:lstStyle/>
          <a:p>
            <a:pPr algn="l" indent="0" marL="0">
              <a:lnSpc>
                <a:spcPts val="1440"/>
              </a:lnSpc>
              <a:buNone/>
            </a:pPr>
            <a:r>
              <a:rPr lang="en-US" sz="1200" spc="100" kern="0" dirty="0">
                <a:solidFill>
                  <a:srgbClr val="39FF88"/>
                </a:solidFill>
                <a:latin typeface="JetBrains Mono" pitchFamily="34" charset="0"/>
                <a:ea typeface="JetBrains Mono" pitchFamily="34" charset="-122"/>
                <a:cs typeface="JetBrains Mono" pitchFamily="34" charset="-120"/>
              </a:rPr>
              <a:t>// LIVE</a:t>
            </a:r>
            <a:endParaRPr lang="en-US" sz="1200" dirty="0"/>
          </a:p>
        </p:txBody>
      </p:sp>
      <p:sp>
        <p:nvSpPr>
          <p:cNvPr id="3" name="Text 1"/>
          <p:cNvSpPr/>
          <p:nvPr/>
        </p:nvSpPr>
        <p:spPr>
          <a:xfrm>
            <a:off x="812798" y="1263647"/>
            <a:ext cx="10617173" cy="502839"/>
          </a:xfrm>
          <a:prstGeom prst="rect">
            <a:avLst/>
          </a:prstGeom>
          <a:noFill/>
          <a:ln/>
        </p:spPr>
        <p:txBody>
          <a:bodyPr wrap="square" lIns="0" tIns="0" rIns="0" bIns="0" rtlCol="0" anchor="t"/>
          <a:lstStyle/>
          <a:p>
            <a:pPr algn="l" indent="0" marL="0">
              <a:lnSpc>
                <a:spcPts val="3960"/>
              </a:lnSpc>
              <a:buNone/>
            </a:pPr>
            <a:r>
              <a:rPr lang="en-US" sz="3600" b="1" dirty="0">
                <a:solidFill>
                  <a:srgbClr val="39FF88"/>
                </a:solidFill>
                <a:latin typeface="JetBrains Mono" pitchFamily="34" charset="0"/>
                <a:ea typeface="JetBrains Mono" pitchFamily="34" charset="-122"/>
                <a:cs typeface="JetBrains Mono" pitchFamily="34" charset="-120"/>
              </a:rPr>
              <a:t>~$</a:t>
            </a:r>
            <a:pPr algn="l" indent="0" marL="0">
              <a:lnSpc>
                <a:spcPts val="3960"/>
              </a:lnSpc>
              <a:buNone/>
            </a:pPr>
            <a:r>
              <a:rPr lang="en-US" sz="3600" b="1" dirty="0">
                <a:solidFill>
                  <a:srgbClr val="F4F6F1"/>
                </a:solidFill>
                <a:latin typeface="JetBrains Mono" pitchFamily="34" charset="0"/>
                <a:ea typeface="JetBrains Mono" pitchFamily="34" charset="-122"/>
                <a:cs typeface="JetBrains Mono" pitchFamily="34" charset="-120"/>
              </a:rPr>
              <a:t> Two prompts and a trap</a:t>
            </a:r>
            <a:endParaRPr lang="en-US" sz="3600" dirty="0"/>
          </a:p>
        </p:txBody>
      </p:sp>
      <p:sp>
        <p:nvSpPr>
          <p:cNvPr id="4" name="Shape 2"/>
          <p:cNvSpPr/>
          <p:nvPr/>
        </p:nvSpPr>
        <p:spPr>
          <a:xfrm>
            <a:off x="812798" y="2020486"/>
            <a:ext cx="10566374" cy="952498"/>
          </a:xfrm>
          <a:prstGeom prst="roundRect">
            <a:avLst>
              <a:gd name="adj" fmla="val 8000"/>
            </a:avLst>
          </a:prstGeom>
          <a:solidFill>
            <a:srgbClr val="111812"/>
          </a:solidFill>
          <a:ln w="9525">
            <a:solidFill>
              <a:srgbClr val="24402C"/>
            </a:solidFill>
            <a:prstDash val="solid"/>
          </a:ln>
        </p:spPr>
      </p:sp>
      <p:sp>
        <p:nvSpPr>
          <p:cNvPr id="5" name="Text 3"/>
          <p:cNvSpPr/>
          <p:nvPr/>
        </p:nvSpPr>
        <p:spPr>
          <a:xfrm>
            <a:off x="1073147" y="2312585"/>
            <a:ext cx="558799" cy="368299"/>
          </a:xfrm>
          <a:prstGeom prst="rect">
            <a:avLst/>
          </a:prstGeom>
          <a:noFill/>
          <a:ln/>
        </p:spPr>
        <p:txBody>
          <a:bodyPr wrap="square" lIns="0" tIns="0" rIns="0" bIns="0" rtlCol="0" anchor="t"/>
          <a:lstStyle/>
          <a:p>
            <a:pPr algn="l" indent="0" marL="0">
              <a:lnSpc>
                <a:spcPts val="2640"/>
              </a:lnSpc>
              <a:buNone/>
            </a:pPr>
            <a:r>
              <a:rPr lang="en-US" sz="2200" b="1" dirty="0">
                <a:solidFill>
                  <a:srgbClr val="39FF88"/>
                </a:solidFill>
                <a:latin typeface="JetBrains Mono" pitchFamily="34" charset="0"/>
                <a:ea typeface="JetBrains Mono" pitchFamily="34" charset="-122"/>
                <a:cs typeface="JetBrains Mono" pitchFamily="34" charset="-120"/>
              </a:rPr>
              <a:t>1</a:t>
            </a:r>
            <a:endParaRPr lang="en-US" sz="2200" dirty="0"/>
          </a:p>
        </p:txBody>
      </p:sp>
      <p:sp>
        <p:nvSpPr>
          <p:cNvPr id="6" name="Text 4"/>
          <p:cNvSpPr/>
          <p:nvPr/>
        </p:nvSpPr>
        <p:spPr>
          <a:xfrm>
            <a:off x="1784346" y="2230035"/>
            <a:ext cx="6515084" cy="533399"/>
          </a:xfrm>
          <a:prstGeom prst="rect">
            <a:avLst/>
          </a:prstGeom>
          <a:noFill/>
          <a:ln/>
        </p:spPr>
        <p:txBody>
          <a:bodyPr wrap="square" lIns="0" tIns="0" rIns="0" bIns="0" rtlCol="0" anchor="t"/>
          <a:lstStyle/>
          <a:p>
            <a:pPr algn="l" indent="0" marL="0">
              <a:lnSpc>
                <a:spcPts val="2100"/>
              </a:lnSpc>
              <a:buNone/>
            </a:pPr>
            <a:r>
              <a:rPr lang="en-US" sz="1500" dirty="0">
                <a:solidFill>
                  <a:srgbClr val="D7F5DD"/>
                </a:solidFill>
                <a:latin typeface="JetBrains Mono" pitchFamily="34" charset="0"/>
                <a:ea typeface="JetBrains Mono" pitchFamily="34" charset="-122"/>
                <a:cs typeface="JetBrains Mono" pitchFamily="34" charset="-120"/>
              </a:rPr>
              <a:t>&gt; Write tests for the reminder rules. Cover the edge cases.</a:t>
            </a:r>
            <a:endParaRPr lang="en-US" sz="1500" dirty="0"/>
          </a:p>
        </p:txBody>
      </p:sp>
      <p:sp>
        <p:nvSpPr>
          <p:cNvPr id="7" name="Text 5"/>
          <p:cNvSpPr/>
          <p:nvPr/>
        </p:nvSpPr>
        <p:spPr>
          <a:xfrm>
            <a:off x="8451829" y="2283415"/>
            <a:ext cx="2717793" cy="426640"/>
          </a:xfrm>
          <a:prstGeom prst="rect">
            <a:avLst/>
          </a:prstGeom>
          <a:noFill/>
          <a:ln/>
        </p:spPr>
        <p:txBody>
          <a:bodyPr wrap="square" lIns="0" tIns="0" rIns="0" bIns="0" rtlCol="0" anchor="t"/>
          <a:lstStyle/>
          <a:p>
            <a:pPr algn="l" indent="0" marL="0">
              <a:lnSpc>
                <a:spcPts val="1680"/>
              </a:lnSpc>
              <a:buNone/>
            </a:pPr>
            <a:r>
              <a:rPr lang="en-US" sz="1200" dirty="0">
                <a:solidFill>
                  <a:srgbClr val="A9C9B3"/>
                </a:solidFill>
                <a:latin typeface="IBM Plex Sans" pitchFamily="34" charset="0"/>
                <a:ea typeface="IBM Plex Sans" pitchFamily="34" charset="-122"/>
                <a:cs typeface="IBM Plex Sans" pitchFamily="34" charset="-120"/>
              </a:rPr>
              <a:t>Watch which edge cases it finds without being told.</a:t>
            </a:r>
            <a:endParaRPr lang="en-US" sz="1200" dirty="0"/>
          </a:p>
        </p:txBody>
      </p:sp>
      <p:sp>
        <p:nvSpPr>
          <p:cNvPr id="8" name="Shape 6"/>
          <p:cNvSpPr/>
          <p:nvPr/>
        </p:nvSpPr>
        <p:spPr>
          <a:xfrm>
            <a:off x="812798" y="3099983"/>
            <a:ext cx="10566374" cy="845739"/>
          </a:xfrm>
          <a:prstGeom prst="roundRect">
            <a:avLst>
              <a:gd name="adj" fmla="val 9010"/>
            </a:avLst>
          </a:prstGeom>
          <a:solidFill>
            <a:srgbClr val="111812"/>
          </a:solidFill>
          <a:ln w="9525">
            <a:solidFill>
              <a:srgbClr val="24402C"/>
            </a:solidFill>
            <a:prstDash val="solid"/>
          </a:ln>
        </p:spPr>
      </p:sp>
      <p:sp>
        <p:nvSpPr>
          <p:cNvPr id="9" name="Text 7"/>
          <p:cNvSpPr/>
          <p:nvPr/>
        </p:nvSpPr>
        <p:spPr>
          <a:xfrm>
            <a:off x="1073147" y="3338703"/>
            <a:ext cx="558799" cy="368299"/>
          </a:xfrm>
          <a:prstGeom prst="rect">
            <a:avLst/>
          </a:prstGeom>
          <a:noFill/>
          <a:ln/>
        </p:spPr>
        <p:txBody>
          <a:bodyPr wrap="square" lIns="0" tIns="0" rIns="0" bIns="0" rtlCol="0" anchor="t"/>
          <a:lstStyle/>
          <a:p>
            <a:pPr algn="l" indent="0" marL="0">
              <a:lnSpc>
                <a:spcPts val="2640"/>
              </a:lnSpc>
              <a:buNone/>
            </a:pPr>
            <a:r>
              <a:rPr lang="en-US" sz="2200" b="1" dirty="0">
                <a:solidFill>
                  <a:srgbClr val="39FF88"/>
                </a:solidFill>
                <a:latin typeface="JetBrains Mono" pitchFamily="34" charset="0"/>
                <a:ea typeface="JetBrains Mono" pitchFamily="34" charset="-122"/>
                <a:cs typeface="JetBrains Mono" pitchFamily="34" charset="-120"/>
              </a:rPr>
              <a:t>2</a:t>
            </a:r>
            <a:endParaRPr lang="en-US" sz="2200" dirty="0"/>
          </a:p>
        </p:txBody>
      </p:sp>
      <p:sp>
        <p:nvSpPr>
          <p:cNvPr id="10" name="Text 8"/>
          <p:cNvSpPr/>
          <p:nvPr/>
        </p:nvSpPr>
        <p:spPr>
          <a:xfrm>
            <a:off x="1784346" y="3389502"/>
            <a:ext cx="6515084" cy="266699"/>
          </a:xfrm>
          <a:prstGeom prst="rect">
            <a:avLst/>
          </a:prstGeom>
          <a:noFill/>
          <a:ln/>
        </p:spPr>
        <p:txBody>
          <a:bodyPr wrap="square" lIns="0" tIns="0" rIns="0" bIns="0" rtlCol="0" anchor="t"/>
          <a:lstStyle/>
          <a:p>
            <a:pPr algn="l" indent="0" marL="0">
              <a:lnSpc>
                <a:spcPts val="2100"/>
              </a:lnSpc>
              <a:buNone/>
            </a:pPr>
            <a:r>
              <a:rPr lang="en-US" sz="1500" dirty="0">
                <a:solidFill>
                  <a:srgbClr val="D7F5DD"/>
                </a:solidFill>
                <a:latin typeface="JetBrains Mono" pitchFamily="34" charset="0"/>
                <a:ea typeface="JetBrains Mono" pitchFamily="34" charset="-122"/>
                <a:cs typeface="JetBrains Mono" pitchFamily="34" charset="-120"/>
              </a:rPr>
              <a:t>&gt; Add a Playwright test for logging a drink.</a:t>
            </a:r>
            <a:endParaRPr lang="en-US" sz="1500" dirty="0"/>
          </a:p>
        </p:txBody>
      </p:sp>
      <p:sp>
        <p:nvSpPr>
          <p:cNvPr id="11" name="Text 9"/>
          <p:cNvSpPr/>
          <p:nvPr/>
        </p:nvSpPr>
        <p:spPr>
          <a:xfrm>
            <a:off x="8451829" y="3309532"/>
            <a:ext cx="2717793" cy="426640"/>
          </a:xfrm>
          <a:prstGeom prst="rect">
            <a:avLst/>
          </a:prstGeom>
          <a:noFill/>
          <a:ln/>
        </p:spPr>
        <p:txBody>
          <a:bodyPr wrap="square" lIns="0" tIns="0" rIns="0" bIns="0" rtlCol="0" anchor="t"/>
          <a:lstStyle/>
          <a:p>
            <a:pPr algn="l" indent="0" marL="0">
              <a:lnSpc>
                <a:spcPts val="1680"/>
              </a:lnSpc>
              <a:buNone/>
            </a:pPr>
            <a:r>
              <a:rPr lang="en-US" sz="1200" dirty="0">
                <a:solidFill>
                  <a:srgbClr val="A9C9B3"/>
                </a:solidFill>
                <a:latin typeface="IBM Plex Sans" pitchFamily="34" charset="0"/>
                <a:ea typeface="IBM Plex Sans" pitchFamily="34" charset="-122"/>
                <a:cs typeface="IBM Plex Sans" pitchFamily="34" charset="-120"/>
              </a:rPr>
              <a:t>Real Chromium drives the real app. Role and label selectors.</a:t>
            </a:r>
            <a:endParaRPr lang="en-US" sz="1200" dirty="0"/>
          </a:p>
        </p:txBody>
      </p:sp>
      <p:sp>
        <p:nvSpPr>
          <p:cNvPr id="12" name="Shape 10"/>
          <p:cNvSpPr/>
          <p:nvPr/>
        </p:nvSpPr>
        <p:spPr>
          <a:xfrm>
            <a:off x="812798" y="4072721"/>
            <a:ext cx="10566374" cy="858438"/>
          </a:xfrm>
          <a:prstGeom prst="roundRect">
            <a:avLst>
              <a:gd name="adj" fmla="val 8877"/>
            </a:avLst>
          </a:prstGeom>
          <a:solidFill>
            <a:srgbClr val="16201A"/>
          </a:solidFill>
          <a:ln w="12700">
            <a:solidFill>
              <a:srgbClr val="FFB000"/>
            </a:solidFill>
            <a:prstDash val="solid"/>
          </a:ln>
        </p:spPr>
      </p:sp>
      <p:sp>
        <p:nvSpPr>
          <p:cNvPr id="13" name="Text 11"/>
          <p:cNvSpPr/>
          <p:nvPr/>
        </p:nvSpPr>
        <p:spPr>
          <a:xfrm>
            <a:off x="1079497" y="4317791"/>
            <a:ext cx="558799" cy="368299"/>
          </a:xfrm>
          <a:prstGeom prst="rect">
            <a:avLst/>
          </a:prstGeom>
          <a:noFill/>
          <a:ln/>
        </p:spPr>
        <p:txBody>
          <a:bodyPr wrap="square" lIns="0" tIns="0" rIns="0" bIns="0" rtlCol="0" anchor="t"/>
          <a:lstStyle/>
          <a:p>
            <a:pPr algn="l" indent="0" marL="0">
              <a:lnSpc>
                <a:spcPts val="2640"/>
              </a:lnSpc>
              <a:buNone/>
            </a:pPr>
            <a:r>
              <a:rPr lang="en-US" sz="2200" b="1" dirty="0">
                <a:solidFill>
                  <a:srgbClr val="FFB000"/>
                </a:solidFill>
                <a:latin typeface="JetBrains Mono" pitchFamily="34" charset="0"/>
                <a:ea typeface="JetBrains Mono" pitchFamily="34" charset="-122"/>
                <a:cs typeface="JetBrains Mono" pitchFamily="34" charset="-120"/>
              </a:rPr>
              <a:t>3</a:t>
            </a:r>
            <a:endParaRPr lang="en-US" sz="2200" dirty="0"/>
          </a:p>
        </p:txBody>
      </p:sp>
      <p:sp>
        <p:nvSpPr>
          <p:cNvPr id="14" name="Text 12"/>
          <p:cNvSpPr/>
          <p:nvPr/>
        </p:nvSpPr>
        <p:spPr>
          <a:xfrm>
            <a:off x="1790696" y="4368591"/>
            <a:ext cx="6502384" cy="266699"/>
          </a:xfrm>
          <a:prstGeom prst="rect">
            <a:avLst/>
          </a:prstGeom>
          <a:noFill/>
          <a:ln/>
        </p:spPr>
        <p:txBody>
          <a:bodyPr wrap="square" lIns="0" tIns="0" rIns="0" bIns="0" rtlCol="0" anchor="t"/>
          <a:lstStyle/>
          <a:p>
            <a:pPr algn="l" indent="0" marL="0">
              <a:lnSpc>
                <a:spcPts val="2100"/>
              </a:lnSpc>
              <a:buNone/>
            </a:pPr>
            <a:r>
              <a:rPr lang="en-US" sz="1500" dirty="0">
                <a:solidFill>
                  <a:srgbClr val="D7F5DD"/>
                </a:solidFill>
                <a:latin typeface="JetBrains Mono" pitchFamily="34" charset="0"/>
                <a:ea typeface="JetBrains Mono" pitchFamily="34" charset="-122"/>
                <a:cs typeface="JetBrains Mono" pitchFamily="34" charset="-120"/>
              </a:rPr>
              <a:t>&gt; A test is failing. Find out why and fix it.</a:t>
            </a:r>
            <a:endParaRPr lang="en-US" sz="1500" dirty="0"/>
          </a:p>
        </p:txBody>
      </p:sp>
      <p:sp>
        <p:nvSpPr>
          <p:cNvPr id="15" name="Text 13"/>
          <p:cNvSpPr/>
          <p:nvPr/>
        </p:nvSpPr>
        <p:spPr>
          <a:xfrm>
            <a:off x="8445479" y="4288621"/>
            <a:ext cx="2717793" cy="426640"/>
          </a:xfrm>
          <a:prstGeom prst="rect">
            <a:avLst/>
          </a:prstGeom>
          <a:noFill/>
          <a:ln/>
        </p:spPr>
        <p:txBody>
          <a:bodyPr wrap="square" lIns="0" tIns="0" rIns="0" bIns="0" rtlCol="0" anchor="t"/>
          <a:lstStyle/>
          <a:p>
            <a:pPr algn="l" indent="0" marL="0">
              <a:lnSpc>
                <a:spcPts val="1680"/>
              </a:lnSpc>
              <a:buNone/>
            </a:pPr>
            <a:r>
              <a:rPr lang="en-US" sz="1200" dirty="0">
                <a:solidFill>
                  <a:srgbClr val="A9C9B3"/>
                </a:solidFill>
                <a:latin typeface="IBM Plex Sans" pitchFamily="34" charset="0"/>
                <a:ea typeface="IBM Plex Sans" pitchFamily="34" charset="-122"/>
                <a:cs typeface="IBM Plex Sans" pitchFamily="34" charset="-120"/>
              </a:rPr>
              <a:t>The trap: a bug you planted before the session. Then run the code review.</a:t>
            </a:r>
            <a:endParaRPr lang="en-US" sz="1200" dirty="0"/>
          </a:p>
        </p:txBody>
      </p:sp>
      <p:sp>
        <p:nvSpPr>
          <p:cNvPr id="16" name="Text 14"/>
          <p:cNvSpPr/>
          <p:nvPr/>
        </p:nvSpPr>
        <p:spPr>
          <a:xfrm>
            <a:off x="812798" y="6254734"/>
            <a:ext cx="10617173" cy="196850"/>
          </a:xfrm>
          <a:prstGeom prst="rect">
            <a:avLst/>
          </a:prstGeom>
          <a:noFill/>
          <a:ln/>
        </p:spPr>
        <p:txBody>
          <a:bodyPr wrap="square" lIns="0" tIns="0" rIns="0" bIns="0" rtlCol="0" anchor="t"/>
          <a:lstStyle/>
          <a:p>
            <a:pPr algn="l" indent="0" marL="0">
              <a:lnSpc>
                <a:spcPts val="1440"/>
              </a:lnSpc>
              <a:buNone/>
            </a:pPr>
            <a:r>
              <a:rPr lang="en-US" sz="1200" dirty="0">
                <a:solidFill>
                  <a:srgbClr val="86B394"/>
                </a:solidFill>
                <a:latin typeface="JetBrains Mono" pitchFamily="34" charset="0"/>
                <a:ea typeface="JetBrains Mono" pitchFamily="34" charset="-122"/>
                <a:cs typeface="JetBrains Mono" pitchFamily="34" charset="-120"/>
              </a:rPr>
              <a:t>part 3 · testing</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201A"/>
        </a:solidFill>
      </p:bgPr>
    </p:bg>
    <p:spTree>
      <p:nvGrpSpPr>
        <p:cNvPr id="1" name=""/>
        <p:cNvGrpSpPr/>
        <p:nvPr/>
      </p:nvGrpSpPr>
      <p:grpSpPr>
        <a:xfrm>
          <a:off x="0" y="0"/>
          <a:ext cx="0" cy="0"/>
          <a:chOff x="0" y="0"/>
          <a:chExt cx="0" cy="0"/>
        </a:xfrm>
      </p:grpSpPr>
      <p:sp>
        <p:nvSpPr>
          <p:cNvPr id="2" name="Text 0"/>
          <p:cNvSpPr/>
          <p:nvPr/>
        </p:nvSpPr>
        <p:spPr>
          <a:xfrm>
            <a:off x="812798" y="812798"/>
            <a:ext cx="10617173" cy="196850"/>
          </a:xfrm>
          <a:prstGeom prst="rect">
            <a:avLst/>
          </a:prstGeom>
          <a:noFill/>
          <a:ln/>
        </p:spPr>
        <p:txBody>
          <a:bodyPr wrap="square" lIns="0" tIns="0" rIns="0" bIns="0" rtlCol="0" anchor="t"/>
          <a:lstStyle/>
          <a:p>
            <a:pPr algn="l" indent="0" marL="0">
              <a:lnSpc>
                <a:spcPts val="1440"/>
              </a:lnSpc>
              <a:buNone/>
            </a:pPr>
            <a:r>
              <a:rPr lang="en-US" sz="1200" spc="100" kern="0" dirty="0">
                <a:solidFill>
                  <a:srgbClr val="39FF88"/>
                </a:solidFill>
                <a:latin typeface="JetBrains Mono" pitchFamily="34" charset="0"/>
                <a:ea typeface="JetBrains Mono" pitchFamily="34" charset="-122"/>
                <a:cs typeface="JetBrains Mono" pitchFamily="34" charset="-120"/>
              </a:rPr>
              <a:t>// WHAT TO WATCH FOR</a:t>
            </a:r>
            <a:endParaRPr lang="en-US" sz="1200" dirty="0"/>
          </a:p>
        </p:txBody>
      </p:sp>
      <p:sp>
        <p:nvSpPr>
          <p:cNvPr id="3" name="Text 1"/>
          <p:cNvSpPr/>
          <p:nvPr/>
        </p:nvSpPr>
        <p:spPr>
          <a:xfrm>
            <a:off x="812798" y="1263647"/>
            <a:ext cx="10617173" cy="502839"/>
          </a:xfrm>
          <a:prstGeom prst="rect">
            <a:avLst/>
          </a:prstGeom>
          <a:noFill/>
          <a:ln/>
        </p:spPr>
        <p:txBody>
          <a:bodyPr wrap="square" lIns="0" tIns="0" rIns="0" bIns="0" rtlCol="0" anchor="t"/>
          <a:lstStyle/>
          <a:p>
            <a:pPr algn="l" indent="0" marL="0">
              <a:lnSpc>
                <a:spcPts val="3960"/>
              </a:lnSpc>
              <a:buNone/>
            </a:pPr>
            <a:r>
              <a:rPr lang="en-US" sz="3600" b="1" dirty="0">
                <a:solidFill>
                  <a:srgbClr val="39FF88"/>
                </a:solidFill>
                <a:latin typeface="JetBrains Mono" pitchFamily="34" charset="0"/>
                <a:ea typeface="JetBrains Mono" pitchFamily="34" charset="-122"/>
                <a:cs typeface="JetBrains Mono" pitchFamily="34" charset="-120"/>
              </a:rPr>
              <a:t>~$</a:t>
            </a:r>
            <a:pPr algn="l" indent="0" marL="0">
              <a:lnSpc>
                <a:spcPts val="3960"/>
              </a:lnSpc>
              <a:buNone/>
            </a:pPr>
            <a:r>
              <a:rPr lang="en-US" sz="3600" b="1" dirty="0">
                <a:solidFill>
                  <a:srgbClr val="F4F6F1"/>
                </a:solidFill>
                <a:latin typeface="JetBrains Mono" pitchFamily="34" charset="0"/>
                <a:ea typeface="JetBrains Mono" pitchFamily="34" charset="-122"/>
                <a:cs typeface="JetBrains Mono" pitchFamily="34" charset="-120"/>
              </a:rPr>
              <a:t> Four things worth pointing at</a:t>
            </a:r>
            <a:endParaRPr lang="en-US" sz="3600" dirty="0"/>
          </a:p>
        </p:txBody>
      </p:sp>
      <p:sp>
        <p:nvSpPr>
          <p:cNvPr id="4" name="Shape 2"/>
          <p:cNvSpPr/>
          <p:nvPr/>
        </p:nvSpPr>
        <p:spPr>
          <a:xfrm>
            <a:off x="812798" y="2020486"/>
            <a:ext cx="5181587" cy="1655957"/>
          </a:xfrm>
          <a:prstGeom prst="roundRect">
            <a:avLst>
              <a:gd name="adj" fmla="val 4602"/>
            </a:avLst>
          </a:prstGeom>
          <a:solidFill>
            <a:srgbClr val="111812"/>
          </a:solidFill>
          <a:ln w="9525">
            <a:solidFill>
              <a:srgbClr val="24402C"/>
            </a:solidFill>
            <a:prstDash val="solid"/>
          </a:ln>
        </p:spPr>
      </p:sp>
      <p:sp>
        <p:nvSpPr>
          <p:cNvPr id="5" name="Shape 3"/>
          <p:cNvSpPr/>
          <p:nvPr/>
        </p:nvSpPr>
        <p:spPr>
          <a:xfrm>
            <a:off x="1047747" y="2331635"/>
            <a:ext cx="152400" cy="152400"/>
          </a:xfrm>
          <a:prstGeom prst="roundRect">
            <a:avLst>
              <a:gd name="adj" fmla="val 25000"/>
            </a:avLst>
          </a:prstGeom>
          <a:solidFill>
            <a:srgbClr val="39FF88"/>
          </a:solidFill>
          <a:ln/>
        </p:spPr>
      </p:sp>
      <p:sp>
        <p:nvSpPr>
          <p:cNvPr id="6" name="Text 4"/>
          <p:cNvSpPr/>
          <p:nvPr/>
        </p:nvSpPr>
        <p:spPr>
          <a:xfrm>
            <a:off x="1047747" y="2636434"/>
            <a:ext cx="4762488" cy="266699"/>
          </a:xfrm>
          <a:prstGeom prst="rect">
            <a:avLst/>
          </a:prstGeom>
          <a:noFill/>
          <a:ln/>
        </p:spPr>
        <p:txBody>
          <a:bodyPr wrap="square" lIns="0" tIns="0" rIns="0" bIns="0" rtlCol="0" anchor="t"/>
          <a:lstStyle/>
          <a:p>
            <a:pPr algn="l" indent="0" marL="0">
              <a:lnSpc>
                <a:spcPts val="1920"/>
              </a:lnSpc>
              <a:buNone/>
            </a:pPr>
            <a:r>
              <a:rPr lang="en-US" sz="1600" b="1" dirty="0">
                <a:solidFill>
                  <a:srgbClr val="F4F6F1"/>
                </a:solidFill>
                <a:latin typeface="IBM Plex Sans" pitchFamily="34" charset="0"/>
                <a:ea typeface="IBM Plex Sans" pitchFamily="34" charset="-122"/>
                <a:cs typeface="IBM Plex Sans" pitchFamily="34" charset="-120"/>
              </a:rPr>
              <a:t>Edge cases nobody listed</a:t>
            </a:r>
            <a:endParaRPr lang="en-US" sz="1600" dirty="0"/>
          </a:p>
        </p:txBody>
      </p:sp>
      <p:sp>
        <p:nvSpPr>
          <p:cNvPr id="7" name="Text 5"/>
          <p:cNvSpPr/>
          <p:nvPr/>
        </p:nvSpPr>
        <p:spPr>
          <a:xfrm>
            <a:off x="1047747" y="2979333"/>
            <a:ext cx="4762488" cy="462160"/>
          </a:xfrm>
          <a:prstGeom prst="rect">
            <a:avLst/>
          </a:prstGeom>
          <a:noFill/>
          <a:ln/>
        </p:spPr>
        <p:txBody>
          <a:bodyPr wrap="square" lIns="0" tIns="0" rIns="0" bIns="0" rtlCol="0" anchor="t"/>
          <a:lstStyle/>
          <a:p>
            <a:pPr algn="l" indent="0" marL="0">
              <a:lnSpc>
                <a:spcPts val="1820"/>
              </a:lnSpc>
              <a:buNone/>
            </a:pPr>
            <a:r>
              <a:rPr lang="en-US" sz="1300" dirty="0">
                <a:solidFill>
                  <a:srgbClr val="A9C9B3"/>
                </a:solidFill>
                <a:latin typeface="IBM Plex Sans" pitchFamily="34" charset="0"/>
                <a:ea typeface="IBM Plex Sans" pitchFamily="34" charset="-122"/>
                <a:cs typeface="IBM Plex Sans" pitchFamily="34" charset="-120"/>
              </a:rPr>
              <a:t>Midnight, weekends, a time zone that is not the browser’s, both daylight-saving changes, the limit hit exactly.</a:t>
            </a:r>
            <a:endParaRPr lang="en-US" sz="1300" dirty="0"/>
          </a:p>
        </p:txBody>
      </p:sp>
      <p:sp>
        <p:nvSpPr>
          <p:cNvPr id="8" name="Shape 6"/>
          <p:cNvSpPr/>
          <p:nvPr/>
        </p:nvSpPr>
        <p:spPr>
          <a:xfrm>
            <a:off x="6197585" y="2020486"/>
            <a:ext cx="5181587" cy="1655957"/>
          </a:xfrm>
          <a:prstGeom prst="roundRect">
            <a:avLst>
              <a:gd name="adj" fmla="val 4602"/>
            </a:avLst>
          </a:prstGeom>
          <a:solidFill>
            <a:srgbClr val="111812"/>
          </a:solidFill>
          <a:ln w="9525">
            <a:solidFill>
              <a:srgbClr val="24402C"/>
            </a:solidFill>
            <a:prstDash val="solid"/>
          </a:ln>
        </p:spPr>
      </p:sp>
      <p:sp>
        <p:nvSpPr>
          <p:cNvPr id="9" name="Shape 7"/>
          <p:cNvSpPr/>
          <p:nvPr/>
        </p:nvSpPr>
        <p:spPr>
          <a:xfrm>
            <a:off x="6432534" y="2331635"/>
            <a:ext cx="152400" cy="152400"/>
          </a:xfrm>
          <a:prstGeom prst="roundRect">
            <a:avLst>
              <a:gd name="adj" fmla="val 25000"/>
            </a:avLst>
          </a:prstGeom>
          <a:solidFill>
            <a:srgbClr val="39FF88"/>
          </a:solidFill>
          <a:ln/>
        </p:spPr>
      </p:sp>
      <p:sp>
        <p:nvSpPr>
          <p:cNvPr id="10" name="Text 8"/>
          <p:cNvSpPr/>
          <p:nvPr/>
        </p:nvSpPr>
        <p:spPr>
          <a:xfrm>
            <a:off x="6432534" y="2636434"/>
            <a:ext cx="4762488" cy="266699"/>
          </a:xfrm>
          <a:prstGeom prst="rect">
            <a:avLst/>
          </a:prstGeom>
          <a:noFill/>
          <a:ln/>
        </p:spPr>
        <p:txBody>
          <a:bodyPr wrap="square" lIns="0" tIns="0" rIns="0" bIns="0" rtlCol="0" anchor="t"/>
          <a:lstStyle/>
          <a:p>
            <a:pPr algn="l" indent="0" marL="0">
              <a:lnSpc>
                <a:spcPts val="1920"/>
              </a:lnSpc>
              <a:buNone/>
            </a:pPr>
            <a:r>
              <a:rPr lang="en-US" sz="1600" b="1" dirty="0">
                <a:solidFill>
                  <a:srgbClr val="F4F6F1"/>
                </a:solidFill>
                <a:latin typeface="IBM Plex Sans" pitchFamily="34" charset="0"/>
                <a:ea typeface="IBM Plex Sans" pitchFamily="34" charset="-122"/>
                <a:cs typeface="IBM Plex Sans" pitchFamily="34" charset="-120"/>
              </a:rPr>
              <a:t>Playwright driving the real app</a:t>
            </a:r>
            <a:endParaRPr lang="en-US" sz="1600" dirty="0"/>
          </a:p>
        </p:txBody>
      </p:sp>
      <p:sp>
        <p:nvSpPr>
          <p:cNvPr id="11" name="Text 9"/>
          <p:cNvSpPr/>
          <p:nvPr/>
        </p:nvSpPr>
        <p:spPr>
          <a:xfrm>
            <a:off x="6432534" y="2979333"/>
            <a:ext cx="4762488" cy="462160"/>
          </a:xfrm>
          <a:prstGeom prst="rect">
            <a:avLst/>
          </a:prstGeom>
          <a:noFill/>
          <a:ln/>
        </p:spPr>
        <p:txBody>
          <a:bodyPr wrap="square" lIns="0" tIns="0" rIns="0" bIns="0" rtlCol="0" anchor="t"/>
          <a:lstStyle/>
          <a:p>
            <a:pPr algn="l" indent="0" marL="0">
              <a:lnSpc>
                <a:spcPts val="1820"/>
              </a:lnSpc>
              <a:buNone/>
            </a:pPr>
            <a:r>
              <a:rPr lang="en-US" sz="1300" dirty="0">
                <a:solidFill>
                  <a:srgbClr val="A9C9B3"/>
                </a:solidFill>
                <a:latin typeface="IBM Plex Sans" pitchFamily="34" charset="0"/>
                <a:ea typeface="IBM Plex Sans" pitchFamily="34" charset="-122"/>
                <a:cs typeface="IBM Plex Sans" pitchFamily="34" charset="-120"/>
              </a:rPr>
              <a:t>Chromium opens the page, types in the search box, logs a drink and reads the cup’s label. Headless in CI, visible on stage.</a:t>
            </a:r>
            <a:endParaRPr lang="en-US" sz="1300" dirty="0"/>
          </a:p>
        </p:txBody>
      </p:sp>
      <p:sp>
        <p:nvSpPr>
          <p:cNvPr id="12" name="Shape 10"/>
          <p:cNvSpPr/>
          <p:nvPr/>
        </p:nvSpPr>
        <p:spPr>
          <a:xfrm>
            <a:off x="812798" y="3879642"/>
            <a:ext cx="5181587" cy="1655957"/>
          </a:xfrm>
          <a:prstGeom prst="roundRect">
            <a:avLst>
              <a:gd name="adj" fmla="val 4602"/>
            </a:avLst>
          </a:prstGeom>
          <a:solidFill>
            <a:srgbClr val="111812"/>
          </a:solidFill>
          <a:ln w="9525">
            <a:solidFill>
              <a:srgbClr val="24402C"/>
            </a:solidFill>
            <a:prstDash val="solid"/>
          </a:ln>
        </p:spPr>
      </p:sp>
      <p:sp>
        <p:nvSpPr>
          <p:cNvPr id="13" name="Shape 11"/>
          <p:cNvSpPr/>
          <p:nvPr/>
        </p:nvSpPr>
        <p:spPr>
          <a:xfrm>
            <a:off x="1047747" y="4190791"/>
            <a:ext cx="152400" cy="152400"/>
          </a:xfrm>
          <a:prstGeom prst="roundRect">
            <a:avLst>
              <a:gd name="adj" fmla="val 25000"/>
            </a:avLst>
          </a:prstGeom>
          <a:solidFill>
            <a:srgbClr val="FFB000"/>
          </a:solidFill>
          <a:ln/>
        </p:spPr>
      </p:sp>
      <p:sp>
        <p:nvSpPr>
          <p:cNvPr id="14" name="Text 12"/>
          <p:cNvSpPr/>
          <p:nvPr/>
        </p:nvSpPr>
        <p:spPr>
          <a:xfrm>
            <a:off x="1047747" y="4495590"/>
            <a:ext cx="4762488" cy="266699"/>
          </a:xfrm>
          <a:prstGeom prst="rect">
            <a:avLst/>
          </a:prstGeom>
          <a:noFill/>
          <a:ln/>
        </p:spPr>
        <p:txBody>
          <a:bodyPr wrap="square" lIns="0" tIns="0" rIns="0" bIns="0" rtlCol="0" anchor="t"/>
          <a:lstStyle/>
          <a:p>
            <a:pPr algn="l" indent="0" marL="0">
              <a:lnSpc>
                <a:spcPts val="1920"/>
              </a:lnSpc>
              <a:buNone/>
            </a:pPr>
            <a:r>
              <a:rPr lang="en-US" sz="1600" b="1" dirty="0">
                <a:solidFill>
                  <a:srgbClr val="F4F6F1"/>
                </a:solidFill>
                <a:latin typeface="IBM Plex Sans" pitchFamily="34" charset="0"/>
                <a:ea typeface="IBM Plex Sans" pitchFamily="34" charset="-122"/>
                <a:cs typeface="IBM Plex Sans" pitchFamily="34" charset="-120"/>
              </a:rPr>
              <a:t>The planted bug gets caught</a:t>
            </a:r>
            <a:endParaRPr lang="en-US" sz="1600" dirty="0"/>
          </a:p>
        </p:txBody>
      </p:sp>
      <p:sp>
        <p:nvSpPr>
          <p:cNvPr id="15" name="Text 13"/>
          <p:cNvSpPr/>
          <p:nvPr/>
        </p:nvSpPr>
        <p:spPr>
          <a:xfrm>
            <a:off x="1047747" y="4838489"/>
            <a:ext cx="4762488" cy="462160"/>
          </a:xfrm>
          <a:prstGeom prst="rect">
            <a:avLst/>
          </a:prstGeom>
          <a:noFill/>
          <a:ln/>
        </p:spPr>
        <p:txBody>
          <a:bodyPr wrap="square" lIns="0" tIns="0" rIns="0" bIns="0" rtlCol="0" anchor="t"/>
          <a:lstStyle/>
          <a:p>
            <a:pPr algn="l" indent="0" marL="0">
              <a:lnSpc>
                <a:spcPts val="1820"/>
              </a:lnSpc>
              <a:buNone/>
            </a:pPr>
            <a:r>
              <a:rPr lang="en-US" sz="1300" dirty="0">
                <a:solidFill>
                  <a:srgbClr val="A9C9B3"/>
                </a:solidFill>
                <a:latin typeface="IBM Plex Sans" pitchFamily="34" charset="0"/>
                <a:ea typeface="IBM Plex Sans" pitchFamily="34" charset="-122"/>
                <a:cs typeface="IBM Plex Sans" pitchFamily="34" charset="-120"/>
              </a:rPr>
              <a:t>One test fails and names the reason it expected and the one it got. Claude reads the rule and the doc, and restores it.</a:t>
            </a:r>
            <a:endParaRPr lang="en-US" sz="1300" dirty="0"/>
          </a:p>
        </p:txBody>
      </p:sp>
      <p:sp>
        <p:nvSpPr>
          <p:cNvPr id="16" name="Shape 14"/>
          <p:cNvSpPr/>
          <p:nvPr/>
        </p:nvSpPr>
        <p:spPr>
          <a:xfrm>
            <a:off x="6197585" y="3879642"/>
            <a:ext cx="5181587" cy="1655957"/>
          </a:xfrm>
          <a:prstGeom prst="roundRect">
            <a:avLst>
              <a:gd name="adj" fmla="val 4602"/>
            </a:avLst>
          </a:prstGeom>
          <a:solidFill>
            <a:srgbClr val="111812"/>
          </a:solidFill>
          <a:ln w="9525">
            <a:solidFill>
              <a:srgbClr val="24402C"/>
            </a:solidFill>
            <a:prstDash val="solid"/>
          </a:ln>
        </p:spPr>
      </p:sp>
      <p:sp>
        <p:nvSpPr>
          <p:cNvPr id="17" name="Shape 15"/>
          <p:cNvSpPr/>
          <p:nvPr/>
        </p:nvSpPr>
        <p:spPr>
          <a:xfrm>
            <a:off x="6432534" y="4190791"/>
            <a:ext cx="152400" cy="152400"/>
          </a:xfrm>
          <a:prstGeom prst="roundRect">
            <a:avLst>
              <a:gd name="adj" fmla="val 25000"/>
            </a:avLst>
          </a:prstGeom>
          <a:solidFill>
            <a:srgbClr val="39FF88"/>
          </a:solidFill>
          <a:ln/>
        </p:spPr>
      </p:sp>
      <p:sp>
        <p:nvSpPr>
          <p:cNvPr id="18" name="Text 16"/>
          <p:cNvSpPr/>
          <p:nvPr/>
        </p:nvSpPr>
        <p:spPr>
          <a:xfrm>
            <a:off x="6432534" y="4495590"/>
            <a:ext cx="4762488" cy="266699"/>
          </a:xfrm>
          <a:prstGeom prst="rect">
            <a:avLst/>
          </a:prstGeom>
          <a:noFill/>
          <a:ln/>
        </p:spPr>
        <p:txBody>
          <a:bodyPr wrap="square" lIns="0" tIns="0" rIns="0" bIns="0" rtlCol="0" anchor="t"/>
          <a:lstStyle/>
          <a:p>
            <a:pPr algn="l" indent="0" marL="0">
              <a:lnSpc>
                <a:spcPts val="1920"/>
              </a:lnSpc>
              <a:buNone/>
            </a:pPr>
            <a:r>
              <a:rPr lang="en-US" sz="1600" b="1" dirty="0">
                <a:solidFill>
                  <a:srgbClr val="F4F6F1"/>
                </a:solidFill>
                <a:latin typeface="IBM Plex Sans" pitchFamily="34" charset="0"/>
                <a:ea typeface="IBM Plex Sans" pitchFamily="34" charset="-122"/>
                <a:cs typeface="IBM Plex Sans" pitchFamily="34" charset="-120"/>
              </a:rPr>
              <a:t>The code review command</a:t>
            </a:r>
            <a:endParaRPr lang="en-US" sz="1600" dirty="0"/>
          </a:p>
        </p:txBody>
      </p:sp>
      <p:sp>
        <p:nvSpPr>
          <p:cNvPr id="19" name="Text 17"/>
          <p:cNvSpPr/>
          <p:nvPr/>
        </p:nvSpPr>
        <p:spPr>
          <a:xfrm>
            <a:off x="6432534" y="4838489"/>
            <a:ext cx="4762488" cy="462160"/>
          </a:xfrm>
          <a:prstGeom prst="rect">
            <a:avLst/>
          </a:prstGeom>
          <a:noFill/>
          <a:ln/>
        </p:spPr>
        <p:txBody>
          <a:bodyPr wrap="square" lIns="0" tIns="0" rIns="0" bIns="0" rtlCol="0" anchor="t"/>
          <a:lstStyle/>
          <a:p>
            <a:pPr algn="l" indent="0" marL="0">
              <a:lnSpc>
                <a:spcPts val="1820"/>
              </a:lnSpc>
              <a:buNone/>
            </a:pPr>
            <a:r>
              <a:rPr lang="en-US" sz="1300" dirty="0">
                <a:solidFill>
                  <a:srgbClr val="A9C9B3"/>
                </a:solidFill>
                <a:latin typeface="IBM Plex Sans" pitchFamily="34" charset="0"/>
                <a:ea typeface="IBM Plex Sans" pitchFamily="34" charset="-122"/>
                <a:cs typeface="IBM Plex Sans" pitchFamily="34" charset="-120"/>
              </a:rPr>
              <a:t>Run it on the fix before committing. A second pair of eyes that reads the diff, not the chat.</a:t>
            </a:r>
            <a:endParaRPr lang="en-US" sz="1300" dirty="0"/>
          </a:p>
        </p:txBody>
      </p:sp>
      <p:sp>
        <p:nvSpPr>
          <p:cNvPr id="20" name="Text 18"/>
          <p:cNvSpPr/>
          <p:nvPr/>
        </p:nvSpPr>
        <p:spPr>
          <a:xfrm>
            <a:off x="812798" y="6254734"/>
            <a:ext cx="10617173" cy="196850"/>
          </a:xfrm>
          <a:prstGeom prst="rect">
            <a:avLst/>
          </a:prstGeom>
          <a:noFill/>
          <a:ln/>
        </p:spPr>
        <p:txBody>
          <a:bodyPr wrap="square" lIns="0" tIns="0" rIns="0" bIns="0" rtlCol="0" anchor="t"/>
          <a:lstStyle/>
          <a:p>
            <a:pPr algn="l" indent="0" marL="0">
              <a:lnSpc>
                <a:spcPts val="1440"/>
              </a:lnSpc>
              <a:buNone/>
            </a:pPr>
            <a:r>
              <a:rPr lang="en-US" sz="1200" dirty="0">
                <a:solidFill>
                  <a:srgbClr val="86B394"/>
                </a:solidFill>
                <a:latin typeface="JetBrains Mono" pitchFamily="34" charset="0"/>
                <a:ea typeface="JetBrains Mono" pitchFamily="34" charset="-122"/>
                <a:cs typeface="JetBrains Mono" pitchFamily="34" charset="-120"/>
              </a:rPr>
              <a:t>part 3 · testing</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0F0C"/>
        </a:solidFill>
      </p:bgPr>
    </p:bg>
    <p:spTree>
      <p:nvGrpSpPr>
        <p:cNvPr id="1" name=""/>
        <p:cNvGrpSpPr/>
        <p:nvPr/>
      </p:nvGrpSpPr>
      <p:grpSpPr>
        <a:xfrm>
          <a:off x="0" y="0"/>
          <a:ext cx="0" cy="0"/>
          <a:chOff x="0" y="0"/>
          <a:chExt cx="0" cy="0"/>
        </a:xfrm>
      </p:grpSpPr>
      <p:sp>
        <p:nvSpPr>
          <p:cNvPr id="2" name="Text 0"/>
          <p:cNvSpPr/>
          <p:nvPr/>
        </p:nvSpPr>
        <p:spPr>
          <a:xfrm>
            <a:off x="812798" y="812798"/>
            <a:ext cx="10617173" cy="196850"/>
          </a:xfrm>
          <a:prstGeom prst="rect">
            <a:avLst/>
          </a:prstGeom>
          <a:noFill/>
          <a:ln/>
        </p:spPr>
        <p:txBody>
          <a:bodyPr wrap="square" lIns="0" tIns="0" rIns="0" bIns="0" rtlCol="0" anchor="t"/>
          <a:lstStyle/>
          <a:p>
            <a:pPr algn="l" indent="0" marL="0">
              <a:lnSpc>
                <a:spcPts val="1440"/>
              </a:lnSpc>
              <a:buNone/>
            </a:pPr>
            <a:r>
              <a:rPr lang="en-US" sz="1200" spc="100" kern="0" dirty="0">
                <a:solidFill>
                  <a:srgbClr val="39FF88"/>
                </a:solidFill>
                <a:latin typeface="JetBrains Mono" pitchFamily="34" charset="0"/>
                <a:ea typeface="JetBrains Mono" pitchFamily="34" charset="-122"/>
                <a:cs typeface="JetBrains Mono" pitchFamily="34" charset="-120"/>
              </a:rPr>
              <a:t>// THREE LAYERS, CHEAPEST FIRST</a:t>
            </a:r>
            <a:endParaRPr lang="en-US" sz="1200" dirty="0"/>
          </a:p>
        </p:txBody>
      </p:sp>
      <p:sp>
        <p:nvSpPr>
          <p:cNvPr id="3" name="Text 1"/>
          <p:cNvSpPr/>
          <p:nvPr/>
        </p:nvSpPr>
        <p:spPr>
          <a:xfrm>
            <a:off x="812798" y="1263647"/>
            <a:ext cx="10617173" cy="502839"/>
          </a:xfrm>
          <a:prstGeom prst="rect">
            <a:avLst/>
          </a:prstGeom>
          <a:noFill/>
          <a:ln/>
        </p:spPr>
        <p:txBody>
          <a:bodyPr wrap="square" lIns="0" tIns="0" rIns="0" bIns="0" rtlCol="0" anchor="t"/>
          <a:lstStyle/>
          <a:p>
            <a:pPr algn="l" indent="0" marL="0">
              <a:lnSpc>
                <a:spcPts val="3960"/>
              </a:lnSpc>
              <a:buNone/>
            </a:pPr>
            <a:r>
              <a:rPr lang="en-US" sz="3600" b="1" dirty="0">
                <a:solidFill>
                  <a:srgbClr val="39FF88"/>
                </a:solidFill>
                <a:latin typeface="JetBrains Mono" pitchFamily="34" charset="0"/>
                <a:ea typeface="JetBrains Mono" pitchFamily="34" charset="-122"/>
                <a:cs typeface="JetBrains Mono" pitchFamily="34" charset="-120"/>
              </a:rPr>
              <a:t>~$</a:t>
            </a:r>
            <a:pPr algn="l" indent="0" marL="0">
              <a:lnSpc>
                <a:spcPts val="3960"/>
              </a:lnSpc>
              <a:buNone/>
            </a:pPr>
            <a:r>
              <a:rPr lang="en-US" sz="3600" b="1" dirty="0">
                <a:solidFill>
                  <a:srgbClr val="F4F6F1"/>
                </a:solidFill>
                <a:latin typeface="JetBrains Mono" pitchFamily="34" charset="0"/>
                <a:ea typeface="JetBrains Mono" pitchFamily="34" charset="-122"/>
                <a:cs typeface="JetBrains Mono" pitchFamily="34" charset="-120"/>
              </a:rPr>
              <a:t> Where each kind of bug gets caught</a:t>
            </a:r>
            <a:endParaRPr lang="en-US" sz="3600" dirty="0"/>
          </a:p>
        </p:txBody>
      </p:sp>
      <p:sp>
        <p:nvSpPr>
          <p:cNvPr id="4" name="Shape 2"/>
          <p:cNvSpPr/>
          <p:nvPr/>
        </p:nvSpPr>
        <p:spPr>
          <a:xfrm>
            <a:off x="812798" y="2020486"/>
            <a:ext cx="10566374" cy="2174076"/>
          </a:xfrm>
          <a:prstGeom prst="rect">
            <a:avLst/>
          </a:prstGeom>
          <a:ln w="9525">
            <a:solidFill>
              <a:srgbClr val="24402C"/>
            </a:solidFill>
            <a:prstDash val="solid"/>
          </a:ln>
        </p:spPr>
      </p:sp>
      <p:sp>
        <p:nvSpPr>
          <p:cNvPr id="5" name="Shape 3"/>
          <p:cNvSpPr/>
          <p:nvPr/>
        </p:nvSpPr>
        <p:spPr>
          <a:xfrm>
            <a:off x="815973" y="2023661"/>
            <a:ext cx="10560024" cy="365719"/>
          </a:xfrm>
          <a:prstGeom prst="rect">
            <a:avLst/>
          </a:prstGeom>
          <a:solidFill>
            <a:srgbClr val="16201A"/>
          </a:solidFill>
          <a:ln/>
        </p:spPr>
      </p:sp>
      <p:sp>
        <p:nvSpPr>
          <p:cNvPr id="6" name="Text 4"/>
          <p:cNvSpPr/>
          <p:nvPr/>
        </p:nvSpPr>
        <p:spPr>
          <a:xfrm>
            <a:off x="922653" y="2085890"/>
            <a:ext cx="1738169" cy="241260"/>
          </a:xfrm>
          <a:prstGeom prst="rect">
            <a:avLst/>
          </a:prstGeom>
          <a:noFill/>
          <a:ln/>
        </p:spPr>
        <p:txBody>
          <a:bodyPr wrap="square" lIns="0" tIns="0" rIns="0" bIns="0" rtlCol="0" anchor="t"/>
          <a:lstStyle/>
          <a:p>
            <a:pPr algn="l" indent="0" marL="0">
              <a:lnSpc>
                <a:spcPts val="1680"/>
              </a:lnSpc>
              <a:buNone/>
            </a:pPr>
            <a:r>
              <a:rPr lang="en-US" sz="1400" b="1" dirty="0">
                <a:solidFill>
                  <a:srgbClr val="39FF88"/>
                </a:solidFill>
                <a:latin typeface="IBM Plex Sans" pitchFamily="34" charset="0"/>
                <a:ea typeface="IBM Plex Sans" pitchFamily="34" charset="-122"/>
                <a:cs typeface="IBM Plex Sans" pitchFamily="34" charset="-120"/>
              </a:rPr>
              <a:t>Layer</a:t>
            </a:r>
            <a:endParaRPr lang="en-US" sz="1400" dirty="0"/>
          </a:p>
        </p:txBody>
      </p:sp>
      <p:sp>
        <p:nvSpPr>
          <p:cNvPr id="7" name="Text 5"/>
          <p:cNvSpPr/>
          <p:nvPr/>
        </p:nvSpPr>
        <p:spPr>
          <a:xfrm>
            <a:off x="2823382" y="2085890"/>
            <a:ext cx="1527032" cy="241260"/>
          </a:xfrm>
          <a:prstGeom prst="rect">
            <a:avLst/>
          </a:prstGeom>
          <a:noFill/>
          <a:ln/>
        </p:spPr>
        <p:txBody>
          <a:bodyPr wrap="square" lIns="0" tIns="0" rIns="0" bIns="0" rtlCol="0" anchor="t"/>
          <a:lstStyle/>
          <a:p>
            <a:pPr algn="l" indent="0" marL="0">
              <a:lnSpc>
                <a:spcPts val="1680"/>
              </a:lnSpc>
              <a:buNone/>
            </a:pPr>
            <a:r>
              <a:rPr lang="en-US" sz="1400" b="1" dirty="0">
                <a:solidFill>
                  <a:srgbClr val="39FF88"/>
                </a:solidFill>
                <a:latin typeface="IBM Plex Sans" pitchFamily="34" charset="0"/>
                <a:ea typeface="IBM Plex Sans" pitchFamily="34" charset="-122"/>
                <a:cs typeface="IBM Plex Sans" pitchFamily="34" charset="-120"/>
              </a:rPr>
              <a:t>Tool</a:t>
            </a:r>
            <a:endParaRPr lang="en-US" sz="1400" dirty="0"/>
          </a:p>
        </p:txBody>
      </p:sp>
      <p:sp>
        <p:nvSpPr>
          <p:cNvPr id="8" name="Text 6"/>
          <p:cNvSpPr/>
          <p:nvPr/>
        </p:nvSpPr>
        <p:spPr>
          <a:xfrm>
            <a:off x="4512973" y="2085890"/>
            <a:ext cx="5328688" cy="241260"/>
          </a:xfrm>
          <a:prstGeom prst="rect">
            <a:avLst/>
          </a:prstGeom>
          <a:noFill/>
          <a:ln/>
        </p:spPr>
        <p:txBody>
          <a:bodyPr wrap="square" lIns="0" tIns="0" rIns="0" bIns="0" rtlCol="0" anchor="t"/>
          <a:lstStyle/>
          <a:p>
            <a:pPr algn="l" indent="0" marL="0">
              <a:lnSpc>
                <a:spcPts val="1680"/>
              </a:lnSpc>
              <a:buNone/>
            </a:pPr>
            <a:r>
              <a:rPr lang="en-US" sz="1400" b="1" dirty="0">
                <a:solidFill>
                  <a:srgbClr val="39FF88"/>
                </a:solidFill>
                <a:latin typeface="IBM Plex Sans" pitchFamily="34" charset="0"/>
                <a:ea typeface="IBM Plex Sans" pitchFamily="34" charset="-122"/>
                <a:cs typeface="IBM Plex Sans" pitchFamily="34" charset="-120"/>
              </a:rPr>
              <a:t>What it proves</a:t>
            </a:r>
            <a:endParaRPr lang="en-US" sz="1400" dirty="0"/>
          </a:p>
        </p:txBody>
      </p:sp>
      <p:sp>
        <p:nvSpPr>
          <p:cNvPr id="9" name="Text 7"/>
          <p:cNvSpPr/>
          <p:nvPr/>
        </p:nvSpPr>
        <p:spPr>
          <a:xfrm>
            <a:off x="10004221" y="2085890"/>
            <a:ext cx="1315895" cy="241260"/>
          </a:xfrm>
          <a:prstGeom prst="rect">
            <a:avLst/>
          </a:prstGeom>
          <a:noFill/>
          <a:ln/>
        </p:spPr>
        <p:txBody>
          <a:bodyPr wrap="square" lIns="0" tIns="0" rIns="0" bIns="0" rtlCol="0" anchor="t"/>
          <a:lstStyle/>
          <a:p>
            <a:pPr algn="l" indent="0" marL="0">
              <a:lnSpc>
                <a:spcPts val="1680"/>
              </a:lnSpc>
              <a:buNone/>
            </a:pPr>
            <a:r>
              <a:rPr lang="en-US" sz="1400" b="1" dirty="0">
                <a:solidFill>
                  <a:srgbClr val="39FF88"/>
                </a:solidFill>
                <a:latin typeface="IBM Plex Sans" pitchFamily="34" charset="0"/>
                <a:ea typeface="IBM Plex Sans" pitchFamily="34" charset="-122"/>
                <a:cs typeface="IBM Plex Sans" pitchFamily="34" charset="-120"/>
              </a:rPr>
              <a:t>Runs in</a:t>
            </a:r>
            <a:endParaRPr lang="en-US" sz="1400" dirty="0"/>
          </a:p>
        </p:txBody>
      </p:sp>
      <p:sp>
        <p:nvSpPr>
          <p:cNvPr id="10" name="Shape 8"/>
          <p:cNvSpPr/>
          <p:nvPr/>
        </p:nvSpPr>
        <p:spPr>
          <a:xfrm>
            <a:off x="815973" y="2389380"/>
            <a:ext cx="10560024" cy="0"/>
          </a:xfrm>
          <a:prstGeom prst="line">
            <a:avLst/>
          </a:prstGeom>
          <a:noFill/>
          <a:ln w="6350">
            <a:solidFill>
              <a:srgbClr val="24402C"/>
            </a:solidFill>
            <a:prstDash val="solid"/>
          </a:ln>
        </p:spPr>
      </p:sp>
      <p:sp>
        <p:nvSpPr>
          <p:cNvPr id="11" name="Text 9"/>
          <p:cNvSpPr/>
          <p:nvPr/>
        </p:nvSpPr>
        <p:spPr>
          <a:xfrm>
            <a:off x="922653" y="2451610"/>
            <a:ext cx="1738169" cy="476209"/>
          </a:xfrm>
          <a:prstGeom prst="rect">
            <a:avLst/>
          </a:prstGeom>
          <a:noFill/>
          <a:ln/>
        </p:spPr>
        <p:txBody>
          <a:bodyPr wrap="square" lIns="0" tIns="0" rIns="0" bIns="0" rtlCol="0" anchor="t"/>
          <a:lstStyle/>
          <a:p>
            <a:pPr algn="l" indent="0" marL="0">
              <a:lnSpc>
                <a:spcPts val="1680"/>
              </a:lnSpc>
              <a:buNone/>
            </a:pPr>
            <a:r>
              <a:rPr lang="en-US" sz="1400" dirty="0">
                <a:solidFill>
                  <a:srgbClr val="D7F5DD"/>
                </a:solidFill>
                <a:latin typeface="IBM Plex Sans" pitchFamily="34" charset="0"/>
                <a:ea typeface="IBM Plex Sans" pitchFamily="34" charset="-122"/>
                <a:cs typeface="IBM Plex Sans" pitchFamily="34" charset="-120"/>
              </a:rPr>
              <a:t>Unit, rules</a:t>
            </a:r>
            <a:endParaRPr lang="en-US" sz="1400" dirty="0"/>
          </a:p>
        </p:txBody>
      </p:sp>
      <p:sp>
        <p:nvSpPr>
          <p:cNvPr id="12" name="Text 10"/>
          <p:cNvSpPr/>
          <p:nvPr/>
        </p:nvSpPr>
        <p:spPr>
          <a:xfrm>
            <a:off x="2823382" y="2451610"/>
            <a:ext cx="1527032" cy="476209"/>
          </a:xfrm>
          <a:prstGeom prst="rect">
            <a:avLst/>
          </a:prstGeom>
          <a:noFill/>
          <a:ln/>
        </p:spPr>
        <p:txBody>
          <a:bodyPr wrap="square" lIns="0" tIns="0" rIns="0" bIns="0" rtlCol="0" anchor="t"/>
          <a:lstStyle/>
          <a:p>
            <a:pPr algn="l" indent="0" marL="0">
              <a:lnSpc>
                <a:spcPts val="1680"/>
              </a:lnSpc>
              <a:buNone/>
            </a:pPr>
            <a:r>
              <a:rPr lang="en-US" sz="1400" dirty="0">
                <a:solidFill>
                  <a:srgbClr val="D7F5DD"/>
                </a:solidFill>
                <a:latin typeface="IBM Plex Sans" pitchFamily="34" charset="0"/>
                <a:ea typeface="IBM Plex Sans" pitchFamily="34" charset="-122"/>
                <a:cs typeface="IBM Plex Sans" pitchFamily="34" charset="-120"/>
              </a:rPr>
              <a:t>Vitest</a:t>
            </a:r>
            <a:endParaRPr lang="en-US" sz="1400" dirty="0"/>
          </a:p>
        </p:txBody>
      </p:sp>
      <p:sp>
        <p:nvSpPr>
          <p:cNvPr id="13" name="Text 11"/>
          <p:cNvSpPr/>
          <p:nvPr/>
        </p:nvSpPr>
        <p:spPr>
          <a:xfrm>
            <a:off x="4512973" y="2451610"/>
            <a:ext cx="5328688" cy="476209"/>
          </a:xfrm>
          <a:prstGeom prst="rect">
            <a:avLst/>
          </a:prstGeom>
          <a:noFill/>
          <a:ln/>
        </p:spPr>
        <p:txBody>
          <a:bodyPr wrap="square" lIns="0" tIns="0" rIns="0" bIns="0" rtlCol="0" anchor="t"/>
          <a:lstStyle/>
          <a:p>
            <a:pPr algn="l" indent="0" marL="0">
              <a:lnSpc>
                <a:spcPts val="1680"/>
              </a:lnSpc>
              <a:buNone/>
            </a:pPr>
            <a:r>
              <a:rPr lang="en-US" sz="1400" dirty="0">
                <a:solidFill>
                  <a:srgbClr val="D7F5DD"/>
                </a:solidFill>
                <a:latin typeface="IBM Plex Sans" pitchFamily="34" charset="0"/>
                <a:ea typeface="IBM Plex Sans" pitchFamily="34" charset="-122"/>
                <a:cs typeface="IBM Plex Sans" pitchFamily="34" charset="-120"/>
              </a:rPr>
              <a:t>The reminder decision, time zone maths, drink search, every drink has a source. One line per edge case.</a:t>
            </a:r>
            <a:endParaRPr lang="en-US" sz="1400" dirty="0"/>
          </a:p>
        </p:txBody>
      </p:sp>
      <p:sp>
        <p:nvSpPr>
          <p:cNvPr id="14" name="Text 12"/>
          <p:cNvSpPr/>
          <p:nvPr/>
        </p:nvSpPr>
        <p:spPr>
          <a:xfrm>
            <a:off x="10004221" y="2451610"/>
            <a:ext cx="1315895" cy="476209"/>
          </a:xfrm>
          <a:prstGeom prst="rect">
            <a:avLst/>
          </a:prstGeom>
          <a:noFill/>
          <a:ln/>
        </p:spPr>
        <p:txBody>
          <a:bodyPr wrap="square" lIns="0" tIns="0" rIns="0" bIns="0" rtlCol="0" anchor="t"/>
          <a:lstStyle/>
          <a:p>
            <a:pPr algn="l" indent="0" marL="0">
              <a:lnSpc>
                <a:spcPts val="1680"/>
              </a:lnSpc>
              <a:buNone/>
            </a:pPr>
            <a:r>
              <a:rPr lang="en-US" sz="1400" dirty="0">
                <a:solidFill>
                  <a:srgbClr val="D7F5DD"/>
                </a:solidFill>
                <a:latin typeface="IBM Plex Sans" pitchFamily="34" charset="0"/>
                <a:ea typeface="IBM Plex Sans" pitchFamily="34" charset="-122"/>
                <a:cs typeface="IBM Plex Sans" pitchFamily="34" charset="-120"/>
              </a:rPr>
              <a:t>about 1 s</a:t>
            </a:r>
            <a:endParaRPr lang="en-US" sz="1400" dirty="0"/>
          </a:p>
        </p:txBody>
      </p:sp>
      <p:sp>
        <p:nvSpPr>
          <p:cNvPr id="15" name="Shape 13"/>
          <p:cNvSpPr/>
          <p:nvPr/>
        </p:nvSpPr>
        <p:spPr>
          <a:xfrm>
            <a:off x="815973" y="2990049"/>
            <a:ext cx="10560024" cy="0"/>
          </a:xfrm>
          <a:prstGeom prst="line">
            <a:avLst/>
          </a:prstGeom>
          <a:noFill/>
          <a:ln w="6350">
            <a:solidFill>
              <a:srgbClr val="24402C"/>
            </a:solidFill>
            <a:prstDash val="solid"/>
          </a:ln>
        </p:spPr>
      </p:sp>
      <p:sp>
        <p:nvSpPr>
          <p:cNvPr id="16" name="Shape 14"/>
          <p:cNvSpPr/>
          <p:nvPr/>
        </p:nvSpPr>
        <p:spPr>
          <a:xfrm>
            <a:off x="815973" y="2990049"/>
            <a:ext cx="10560024" cy="600669"/>
          </a:xfrm>
          <a:prstGeom prst="rect">
            <a:avLst/>
          </a:prstGeom>
          <a:solidFill>
            <a:srgbClr val="111812"/>
          </a:solidFill>
          <a:ln/>
        </p:spPr>
      </p:sp>
      <p:sp>
        <p:nvSpPr>
          <p:cNvPr id="17" name="Text 15"/>
          <p:cNvSpPr/>
          <p:nvPr/>
        </p:nvSpPr>
        <p:spPr>
          <a:xfrm>
            <a:off x="922653" y="3052279"/>
            <a:ext cx="1738169" cy="476209"/>
          </a:xfrm>
          <a:prstGeom prst="rect">
            <a:avLst/>
          </a:prstGeom>
          <a:noFill/>
          <a:ln/>
        </p:spPr>
        <p:txBody>
          <a:bodyPr wrap="square" lIns="0" tIns="0" rIns="0" bIns="0" rtlCol="0" anchor="t"/>
          <a:lstStyle/>
          <a:p>
            <a:pPr algn="l" indent="0" marL="0">
              <a:lnSpc>
                <a:spcPts val="1680"/>
              </a:lnSpc>
              <a:buNone/>
            </a:pPr>
            <a:r>
              <a:rPr lang="en-US" sz="1400" dirty="0">
                <a:solidFill>
                  <a:srgbClr val="D7F5DD"/>
                </a:solidFill>
                <a:latin typeface="IBM Plex Sans" pitchFamily="34" charset="0"/>
                <a:ea typeface="IBM Plex Sans" pitchFamily="34" charset="-122"/>
                <a:cs typeface="IBM Plex Sans" pitchFamily="34" charset="-120"/>
              </a:rPr>
              <a:t>Unit, web</a:t>
            </a:r>
            <a:endParaRPr lang="en-US" sz="1400" dirty="0"/>
          </a:p>
        </p:txBody>
      </p:sp>
      <p:sp>
        <p:nvSpPr>
          <p:cNvPr id="18" name="Text 16"/>
          <p:cNvSpPr/>
          <p:nvPr/>
        </p:nvSpPr>
        <p:spPr>
          <a:xfrm>
            <a:off x="2823382" y="3052279"/>
            <a:ext cx="1527032" cy="476209"/>
          </a:xfrm>
          <a:prstGeom prst="rect">
            <a:avLst/>
          </a:prstGeom>
          <a:noFill/>
          <a:ln/>
        </p:spPr>
        <p:txBody>
          <a:bodyPr wrap="square" lIns="0" tIns="0" rIns="0" bIns="0" rtlCol="0" anchor="t"/>
          <a:lstStyle/>
          <a:p>
            <a:pPr algn="l" indent="0" marL="0">
              <a:lnSpc>
                <a:spcPts val="1680"/>
              </a:lnSpc>
              <a:buNone/>
            </a:pPr>
            <a:r>
              <a:rPr lang="en-US" sz="1400" dirty="0">
                <a:solidFill>
                  <a:srgbClr val="D7F5DD"/>
                </a:solidFill>
                <a:latin typeface="IBM Plex Sans" pitchFamily="34" charset="0"/>
                <a:ea typeface="IBM Plex Sans" pitchFamily="34" charset="-122"/>
                <a:cs typeface="IBM Plex Sans" pitchFamily="34" charset="-120"/>
              </a:rPr>
              <a:t>Vitest + jsdom</a:t>
            </a:r>
            <a:endParaRPr lang="en-US" sz="1400" dirty="0"/>
          </a:p>
        </p:txBody>
      </p:sp>
      <p:sp>
        <p:nvSpPr>
          <p:cNvPr id="19" name="Text 17"/>
          <p:cNvSpPr/>
          <p:nvPr/>
        </p:nvSpPr>
        <p:spPr>
          <a:xfrm>
            <a:off x="4512973" y="3052279"/>
            <a:ext cx="5328688" cy="476209"/>
          </a:xfrm>
          <a:prstGeom prst="rect">
            <a:avLst/>
          </a:prstGeom>
          <a:noFill/>
          <a:ln/>
        </p:spPr>
        <p:txBody>
          <a:bodyPr wrap="square" lIns="0" tIns="0" rIns="0" bIns="0" rtlCol="0" anchor="t"/>
          <a:lstStyle/>
          <a:p>
            <a:pPr algn="l" indent="0" marL="0">
              <a:lnSpc>
                <a:spcPts val="1680"/>
              </a:lnSpc>
              <a:buNone/>
            </a:pPr>
            <a:r>
              <a:rPr lang="en-US" sz="1400" dirty="0">
                <a:solidFill>
                  <a:srgbClr val="D7F5DD"/>
                </a:solidFill>
                <a:latin typeface="IBM Plex Sans" pitchFamily="34" charset="0"/>
                <a:ea typeface="IBM Plex Sans" pitchFamily="34" charset="-122"/>
                <a:cs typeface="IBM Plex Sans" pitchFamily="34" charset="-120"/>
              </a:rPr>
              <a:t>The cup’s rendered states, the format helpers, and the localStorage store against the shared contract.</a:t>
            </a:r>
            <a:endParaRPr lang="en-US" sz="1400" dirty="0"/>
          </a:p>
        </p:txBody>
      </p:sp>
      <p:sp>
        <p:nvSpPr>
          <p:cNvPr id="20" name="Text 18"/>
          <p:cNvSpPr/>
          <p:nvPr/>
        </p:nvSpPr>
        <p:spPr>
          <a:xfrm>
            <a:off x="10004221" y="3052279"/>
            <a:ext cx="1315895" cy="476209"/>
          </a:xfrm>
          <a:prstGeom prst="rect">
            <a:avLst/>
          </a:prstGeom>
          <a:noFill/>
          <a:ln/>
        </p:spPr>
        <p:txBody>
          <a:bodyPr wrap="square" lIns="0" tIns="0" rIns="0" bIns="0" rtlCol="0" anchor="t"/>
          <a:lstStyle/>
          <a:p>
            <a:pPr algn="l" indent="0" marL="0">
              <a:lnSpc>
                <a:spcPts val="1680"/>
              </a:lnSpc>
              <a:buNone/>
            </a:pPr>
            <a:r>
              <a:rPr lang="en-US" sz="1400" dirty="0">
                <a:solidFill>
                  <a:srgbClr val="D7F5DD"/>
                </a:solidFill>
                <a:latin typeface="IBM Plex Sans" pitchFamily="34" charset="0"/>
                <a:ea typeface="IBM Plex Sans" pitchFamily="34" charset="-122"/>
                <a:cs typeface="IBM Plex Sans" pitchFamily="34" charset="-120"/>
              </a:rPr>
              <a:t>about 2 s</a:t>
            </a:r>
            <a:endParaRPr lang="en-US" sz="1400" dirty="0"/>
          </a:p>
        </p:txBody>
      </p:sp>
      <p:sp>
        <p:nvSpPr>
          <p:cNvPr id="21" name="Shape 19"/>
          <p:cNvSpPr/>
          <p:nvPr/>
        </p:nvSpPr>
        <p:spPr>
          <a:xfrm>
            <a:off x="815973" y="3590718"/>
            <a:ext cx="10560024" cy="0"/>
          </a:xfrm>
          <a:prstGeom prst="line">
            <a:avLst/>
          </a:prstGeom>
          <a:noFill/>
          <a:ln w="6350">
            <a:solidFill>
              <a:srgbClr val="24402C"/>
            </a:solidFill>
            <a:prstDash val="solid"/>
          </a:ln>
        </p:spPr>
      </p:sp>
      <p:sp>
        <p:nvSpPr>
          <p:cNvPr id="22" name="Text 20"/>
          <p:cNvSpPr/>
          <p:nvPr/>
        </p:nvSpPr>
        <p:spPr>
          <a:xfrm>
            <a:off x="922653" y="3652947"/>
            <a:ext cx="1738169" cy="476209"/>
          </a:xfrm>
          <a:prstGeom prst="rect">
            <a:avLst/>
          </a:prstGeom>
          <a:noFill/>
          <a:ln/>
        </p:spPr>
        <p:txBody>
          <a:bodyPr wrap="square" lIns="0" tIns="0" rIns="0" bIns="0" rtlCol="0" anchor="t"/>
          <a:lstStyle/>
          <a:p>
            <a:pPr algn="l" indent="0" marL="0">
              <a:lnSpc>
                <a:spcPts val="1680"/>
              </a:lnSpc>
              <a:buNone/>
            </a:pPr>
            <a:r>
              <a:rPr lang="en-US" sz="1400" dirty="0">
                <a:solidFill>
                  <a:srgbClr val="D7F5DD"/>
                </a:solidFill>
                <a:latin typeface="IBM Plex Sans" pitchFamily="34" charset="0"/>
                <a:ea typeface="IBM Plex Sans" pitchFamily="34" charset="-122"/>
                <a:cs typeface="IBM Plex Sans" pitchFamily="34" charset="-120"/>
              </a:rPr>
              <a:t>End to end</a:t>
            </a:r>
            <a:endParaRPr lang="en-US" sz="1400" dirty="0"/>
          </a:p>
        </p:txBody>
      </p:sp>
      <p:sp>
        <p:nvSpPr>
          <p:cNvPr id="23" name="Text 21"/>
          <p:cNvSpPr/>
          <p:nvPr/>
        </p:nvSpPr>
        <p:spPr>
          <a:xfrm>
            <a:off x="2823382" y="3652947"/>
            <a:ext cx="1527032" cy="476209"/>
          </a:xfrm>
          <a:prstGeom prst="rect">
            <a:avLst/>
          </a:prstGeom>
          <a:noFill/>
          <a:ln/>
        </p:spPr>
        <p:txBody>
          <a:bodyPr wrap="square" lIns="0" tIns="0" rIns="0" bIns="0" rtlCol="0" anchor="t"/>
          <a:lstStyle/>
          <a:p>
            <a:pPr algn="l" indent="0" marL="0">
              <a:lnSpc>
                <a:spcPts val="1680"/>
              </a:lnSpc>
              <a:buNone/>
            </a:pPr>
            <a:r>
              <a:rPr lang="en-US" sz="1400" dirty="0">
                <a:solidFill>
                  <a:srgbClr val="D7F5DD"/>
                </a:solidFill>
                <a:latin typeface="IBM Plex Sans" pitchFamily="34" charset="0"/>
                <a:ea typeface="IBM Plex Sans" pitchFamily="34" charset="-122"/>
                <a:cs typeface="IBM Plex Sans" pitchFamily="34" charset="-120"/>
              </a:rPr>
              <a:t>Playwright</a:t>
            </a:r>
            <a:endParaRPr lang="en-US" sz="1400" dirty="0"/>
          </a:p>
        </p:txBody>
      </p:sp>
      <p:sp>
        <p:nvSpPr>
          <p:cNvPr id="24" name="Text 22"/>
          <p:cNvSpPr/>
          <p:nvPr/>
        </p:nvSpPr>
        <p:spPr>
          <a:xfrm>
            <a:off x="4512973" y="3652947"/>
            <a:ext cx="5328688" cy="476209"/>
          </a:xfrm>
          <a:prstGeom prst="rect">
            <a:avLst/>
          </a:prstGeom>
          <a:noFill/>
          <a:ln/>
        </p:spPr>
        <p:txBody>
          <a:bodyPr wrap="square" lIns="0" tIns="0" rIns="0" bIns="0" rtlCol="0" anchor="t"/>
          <a:lstStyle/>
          <a:p>
            <a:pPr algn="l" indent="0" marL="0">
              <a:lnSpc>
                <a:spcPts val="1680"/>
              </a:lnSpc>
              <a:buNone/>
            </a:pPr>
            <a:r>
              <a:rPr lang="en-US" sz="1400" dirty="0">
                <a:solidFill>
                  <a:srgbClr val="D7F5DD"/>
                </a:solidFill>
                <a:latin typeface="IBM Plex Sans" pitchFamily="34" charset="0"/>
                <a:ea typeface="IBM Plex Sans" pitchFamily="34" charset="-122"/>
                <a:cs typeface="IBM Plex Sans" pitchFamily="34" charset="-120"/>
              </a:rPr>
              <a:t>Real Chromium on the real app: logging, the cup, the drawer, the calendar, settings, export, persistence, reminders firing.</a:t>
            </a:r>
            <a:endParaRPr lang="en-US" sz="1400" dirty="0"/>
          </a:p>
        </p:txBody>
      </p:sp>
      <p:sp>
        <p:nvSpPr>
          <p:cNvPr id="25" name="Text 23"/>
          <p:cNvSpPr/>
          <p:nvPr/>
        </p:nvSpPr>
        <p:spPr>
          <a:xfrm>
            <a:off x="10004221" y="3652947"/>
            <a:ext cx="1315895" cy="476209"/>
          </a:xfrm>
          <a:prstGeom prst="rect">
            <a:avLst/>
          </a:prstGeom>
          <a:noFill/>
          <a:ln/>
        </p:spPr>
        <p:txBody>
          <a:bodyPr wrap="square" lIns="0" tIns="0" rIns="0" bIns="0" rtlCol="0" anchor="t"/>
          <a:lstStyle/>
          <a:p>
            <a:pPr algn="l" indent="0" marL="0">
              <a:lnSpc>
                <a:spcPts val="1680"/>
              </a:lnSpc>
              <a:buNone/>
            </a:pPr>
            <a:r>
              <a:rPr lang="en-US" sz="1400" dirty="0">
                <a:solidFill>
                  <a:srgbClr val="D7F5DD"/>
                </a:solidFill>
                <a:latin typeface="IBM Plex Sans" pitchFamily="34" charset="0"/>
                <a:ea typeface="IBM Plex Sans" pitchFamily="34" charset="-122"/>
                <a:cs typeface="IBM Plex Sans" pitchFamily="34" charset="-120"/>
              </a:rPr>
              <a:t>about 20 s</a:t>
            </a:r>
            <a:endParaRPr lang="en-US" sz="1400" dirty="0"/>
          </a:p>
        </p:txBody>
      </p:sp>
      <p:sp>
        <p:nvSpPr>
          <p:cNvPr id="26" name="Shape 24"/>
          <p:cNvSpPr/>
          <p:nvPr/>
        </p:nvSpPr>
        <p:spPr>
          <a:xfrm>
            <a:off x="815973" y="4191386"/>
            <a:ext cx="10560024" cy="0"/>
          </a:xfrm>
          <a:prstGeom prst="line">
            <a:avLst/>
          </a:prstGeom>
          <a:noFill/>
          <a:ln w="6350">
            <a:solidFill>
              <a:srgbClr val="24402C"/>
            </a:solidFill>
            <a:prstDash val="solid"/>
          </a:ln>
        </p:spPr>
      </p:sp>
      <p:sp>
        <p:nvSpPr>
          <p:cNvPr id="27" name="Shape 25"/>
          <p:cNvSpPr/>
          <p:nvPr/>
        </p:nvSpPr>
        <p:spPr>
          <a:xfrm>
            <a:off x="812798" y="4448561"/>
            <a:ext cx="3386625" cy="1344808"/>
          </a:xfrm>
          <a:prstGeom prst="roundRect">
            <a:avLst>
              <a:gd name="adj" fmla="val 5666"/>
            </a:avLst>
          </a:prstGeom>
          <a:solidFill>
            <a:srgbClr val="111812"/>
          </a:solidFill>
          <a:ln w="9525">
            <a:solidFill>
              <a:srgbClr val="24402C"/>
            </a:solidFill>
            <a:prstDash val="solid"/>
          </a:ln>
        </p:spPr>
      </p:sp>
      <p:sp>
        <p:nvSpPr>
          <p:cNvPr id="28" name="Text 26"/>
          <p:cNvSpPr/>
          <p:nvPr/>
        </p:nvSpPr>
        <p:spPr>
          <a:xfrm>
            <a:off x="1022347" y="4658110"/>
            <a:ext cx="3018326" cy="234949"/>
          </a:xfrm>
          <a:prstGeom prst="rect">
            <a:avLst/>
          </a:prstGeom>
          <a:noFill/>
          <a:ln/>
        </p:spPr>
        <p:txBody>
          <a:bodyPr wrap="square" lIns="0" tIns="0" rIns="0" bIns="0" rtlCol="0" anchor="t"/>
          <a:lstStyle/>
          <a:p>
            <a:pPr algn="l" indent="0" marL="0">
              <a:lnSpc>
                <a:spcPts val="1680"/>
              </a:lnSpc>
              <a:buNone/>
            </a:pPr>
            <a:r>
              <a:rPr lang="en-US" sz="1400" b="1" dirty="0">
                <a:solidFill>
                  <a:srgbClr val="39FF88"/>
                </a:solidFill>
                <a:latin typeface="IBM Plex Sans" pitchFamily="34" charset="0"/>
                <a:ea typeface="IBM Plex Sans" pitchFamily="34" charset="-122"/>
                <a:cs typeface="IBM Plex Sans" pitchFamily="34" charset="-120"/>
              </a:rPr>
              <a:t>Rules first, wiring second</a:t>
            </a:r>
            <a:endParaRPr lang="en-US" sz="1400" dirty="0"/>
          </a:p>
        </p:txBody>
      </p:sp>
      <p:sp>
        <p:nvSpPr>
          <p:cNvPr id="29" name="Text 27"/>
          <p:cNvSpPr/>
          <p:nvPr/>
        </p:nvSpPr>
        <p:spPr>
          <a:xfrm>
            <a:off x="1022347" y="4943860"/>
            <a:ext cx="3018326" cy="639959"/>
          </a:xfrm>
          <a:prstGeom prst="rect">
            <a:avLst/>
          </a:prstGeom>
          <a:noFill/>
          <a:ln/>
        </p:spPr>
        <p:txBody>
          <a:bodyPr wrap="square" lIns="0" tIns="0" rIns="0" bIns="0" rtlCol="0" anchor="t"/>
          <a:lstStyle/>
          <a:p>
            <a:pPr algn="l" indent="0" marL="0">
              <a:lnSpc>
                <a:spcPts val="1680"/>
              </a:lnSpc>
              <a:buNone/>
            </a:pPr>
            <a:r>
              <a:rPr lang="en-US" sz="1200" dirty="0">
                <a:solidFill>
                  <a:srgbClr val="A9C9B3"/>
                </a:solidFill>
                <a:latin typeface="IBM Plex Sans" pitchFamily="34" charset="0"/>
                <a:ea typeface="IBM Plex Sans" pitchFamily="34" charset="-122"/>
                <a:cs typeface="IBM Plex Sans" pitchFamily="34" charset="-120"/>
              </a:rPr>
              <a:t>An end-to-end test proves the screen is connected. It does not re-test every branch the unit tests already cover.</a:t>
            </a:r>
            <a:endParaRPr lang="en-US" sz="1200" dirty="0"/>
          </a:p>
        </p:txBody>
      </p:sp>
      <p:sp>
        <p:nvSpPr>
          <p:cNvPr id="30" name="Shape 28"/>
          <p:cNvSpPr/>
          <p:nvPr/>
        </p:nvSpPr>
        <p:spPr>
          <a:xfrm>
            <a:off x="4402623" y="4448561"/>
            <a:ext cx="3386724" cy="1344808"/>
          </a:xfrm>
          <a:prstGeom prst="roundRect">
            <a:avLst>
              <a:gd name="adj" fmla="val 5666"/>
            </a:avLst>
          </a:prstGeom>
          <a:solidFill>
            <a:srgbClr val="111812"/>
          </a:solidFill>
          <a:ln w="9525">
            <a:solidFill>
              <a:srgbClr val="24402C"/>
            </a:solidFill>
            <a:prstDash val="solid"/>
          </a:ln>
        </p:spPr>
      </p:sp>
      <p:sp>
        <p:nvSpPr>
          <p:cNvPr id="31" name="Text 29"/>
          <p:cNvSpPr/>
          <p:nvPr/>
        </p:nvSpPr>
        <p:spPr>
          <a:xfrm>
            <a:off x="4612172" y="4658110"/>
            <a:ext cx="3018425" cy="234949"/>
          </a:xfrm>
          <a:prstGeom prst="rect">
            <a:avLst/>
          </a:prstGeom>
          <a:noFill/>
          <a:ln/>
        </p:spPr>
        <p:txBody>
          <a:bodyPr wrap="square" lIns="0" tIns="0" rIns="0" bIns="0" rtlCol="0" anchor="t"/>
          <a:lstStyle/>
          <a:p>
            <a:pPr algn="l" indent="0" marL="0">
              <a:lnSpc>
                <a:spcPts val="1680"/>
              </a:lnSpc>
              <a:buNone/>
            </a:pPr>
            <a:r>
              <a:rPr lang="en-US" sz="1400" b="1" dirty="0">
                <a:solidFill>
                  <a:srgbClr val="39FF88"/>
                </a:solidFill>
                <a:latin typeface="IBM Plex Sans" pitchFamily="34" charset="0"/>
                <a:ea typeface="IBM Plex Sans" pitchFamily="34" charset="-122"/>
                <a:cs typeface="IBM Plex Sans" pitchFamily="34" charset="-120"/>
              </a:rPr>
              <a:t>Selectors a user would use</a:t>
            </a:r>
            <a:endParaRPr lang="en-US" sz="1400" dirty="0"/>
          </a:p>
        </p:txBody>
      </p:sp>
      <p:sp>
        <p:nvSpPr>
          <p:cNvPr id="32" name="Text 30"/>
          <p:cNvSpPr/>
          <p:nvPr/>
        </p:nvSpPr>
        <p:spPr>
          <a:xfrm>
            <a:off x="4612172" y="4943860"/>
            <a:ext cx="3018425" cy="426640"/>
          </a:xfrm>
          <a:prstGeom prst="rect">
            <a:avLst/>
          </a:prstGeom>
          <a:noFill/>
          <a:ln/>
        </p:spPr>
        <p:txBody>
          <a:bodyPr wrap="square" lIns="0" tIns="0" rIns="0" bIns="0" rtlCol="0" anchor="t"/>
          <a:lstStyle/>
          <a:p>
            <a:pPr algn="l" indent="0" marL="0">
              <a:lnSpc>
                <a:spcPts val="1680"/>
              </a:lnSpc>
              <a:buNone/>
            </a:pPr>
            <a:r>
              <a:rPr lang="en-US" sz="1200" dirty="0">
                <a:solidFill>
                  <a:srgbClr val="A9C9B3"/>
                </a:solidFill>
                <a:latin typeface="IBM Plex Sans" pitchFamily="34" charset="0"/>
                <a:ea typeface="IBM Plex Sans" pitchFamily="34" charset="-122"/>
                <a:cs typeface="IBM Plex Sans" pitchFamily="34" charset="-120"/>
              </a:rPr>
              <a:t>Buttons by their label, fields by their name. The tests double as an accessibility check.</a:t>
            </a:r>
            <a:endParaRPr lang="en-US" sz="1200" dirty="0"/>
          </a:p>
        </p:txBody>
      </p:sp>
      <p:sp>
        <p:nvSpPr>
          <p:cNvPr id="33" name="Shape 31"/>
          <p:cNvSpPr/>
          <p:nvPr/>
        </p:nvSpPr>
        <p:spPr>
          <a:xfrm>
            <a:off x="7992546" y="4448561"/>
            <a:ext cx="3386625" cy="1344808"/>
          </a:xfrm>
          <a:prstGeom prst="roundRect">
            <a:avLst>
              <a:gd name="adj" fmla="val 5666"/>
            </a:avLst>
          </a:prstGeom>
          <a:solidFill>
            <a:srgbClr val="111812"/>
          </a:solidFill>
          <a:ln w="9525">
            <a:solidFill>
              <a:srgbClr val="24402C"/>
            </a:solidFill>
            <a:prstDash val="solid"/>
          </a:ln>
        </p:spPr>
      </p:sp>
      <p:sp>
        <p:nvSpPr>
          <p:cNvPr id="34" name="Text 32"/>
          <p:cNvSpPr/>
          <p:nvPr/>
        </p:nvSpPr>
        <p:spPr>
          <a:xfrm>
            <a:off x="8202096" y="4658110"/>
            <a:ext cx="3018326" cy="234949"/>
          </a:xfrm>
          <a:prstGeom prst="rect">
            <a:avLst/>
          </a:prstGeom>
          <a:noFill/>
          <a:ln/>
        </p:spPr>
        <p:txBody>
          <a:bodyPr wrap="square" lIns="0" tIns="0" rIns="0" bIns="0" rtlCol="0" anchor="t"/>
          <a:lstStyle/>
          <a:p>
            <a:pPr algn="l" indent="0" marL="0">
              <a:lnSpc>
                <a:spcPts val="1680"/>
              </a:lnSpc>
              <a:buNone/>
            </a:pPr>
            <a:r>
              <a:rPr lang="en-US" sz="1400" b="1" dirty="0">
                <a:solidFill>
                  <a:srgbClr val="39FF88"/>
                </a:solidFill>
                <a:latin typeface="IBM Plex Sans" pitchFamily="34" charset="0"/>
                <a:ea typeface="IBM Plex Sans" pitchFamily="34" charset="-122"/>
                <a:cs typeface="IBM Plex Sans" pitchFamily="34" charset="-120"/>
              </a:rPr>
              <a:t>One contract, every store</a:t>
            </a:r>
            <a:endParaRPr lang="en-US" sz="1400" dirty="0"/>
          </a:p>
        </p:txBody>
      </p:sp>
      <p:sp>
        <p:nvSpPr>
          <p:cNvPr id="35" name="Text 33"/>
          <p:cNvSpPr/>
          <p:nvPr/>
        </p:nvSpPr>
        <p:spPr>
          <a:xfrm>
            <a:off x="8202096" y="4943860"/>
            <a:ext cx="3018326" cy="639959"/>
          </a:xfrm>
          <a:prstGeom prst="rect">
            <a:avLst/>
          </a:prstGeom>
          <a:noFill/>
          <a:ln/>
        </p:spPr>
        <p:txBody>
          <a:bodyPr wrap="square" lIns="0" tIns="0" rIns="0" bIns="0" rtlCol="0" anchor="t"/>
          <a:lstStyle/>
          <a:p>
            <a:pPr algn="l" indent="0" marL="0">
              <a:lnSpc>
                <a:spcPts val="1680"/>
              </a:lnSpc>
              <a:buNone/>
            </a:pPr>
            <a:r>
              <a:rPr lang="en-US" sz="1200" dirty="0">
                <a:solidFill>
                  <a:srgbClr val="A9C9B3"/>
                </a:solidFill>
                <a:latin typeface="IBM Plex Sans" pitchFamily="34" charset="0"/>
                <a:ea typeface="IBM Plex Sans" pitchFamily="34" charset="-122"/>
                <a:cs typeface="IBM Plex Sans" pitchFamily="34" charset="-120"/>
              </a:rPr>
              <a:t>The in-memory store and the localStorage store run the same suite. A future database store adds one line.</a:t>
            </a:r>
            <a:endParaRPr lang="en-US" sz="1200" dirty="0"/>
          </a:p>
        </p:txBody>
      </p:sp>
      <p:sp>
        <p:nvSpPr>
          <p:cNvPr id="36" name="Text 34"/>
          <p:cNvSpPr/>
          <p:nvPr/>
        </p:nvSpPr>
        <p:spPr>
          <a:xfrm>
            <a:off x="812798" y="6254734"/>
            <a:ext cx="10617173" cy="196850"/>
          </a:xfrm>
          <a:prstGeom prst="rect">
            <a:avLst/>
          </a:prstGeom>
          <a:noFill/>
          <a:ln/>
        </p:spPr>
        <p:txBody>
          <a:bodyPr wrap="square" lIns="0" tIns="0" rIns="0" bIns="0" rtlCol="0" anchor="t"/>
          <a:lstStyle/>
          <a:p>
            <a:pPr algn="l" indent="0" marL="0">
              <a:lnSpc>
                <a:spcPts val="1440"/>
              </a:lnSpc>
              <a:buNone/>
            </a:pPr>
            <a:r>
              <a:rPr lang="en-US" sz="1200" dirty="0">
                <a:solidFill>
                  <a:srgbClr val="86B394"/>
                </a:solidFill>
                <a:latin typeface="JetBrains Mono" pitchFamily="34" charset="0"/>
                <a:ea typeface="JetBrains Mono" pitchFamily="34" charset="-122"/>
                <a:cs typeface="JetBrains Mono" pitchFamily="34" charset="-120"/>
              </a:rPr>
              <a:t>part 3 · testing</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0F0C"/>
        </a:solidFill>
      </p:bgPr>
    </p:bg>
    <p:spTree>
      <p:nvGrpSpPr>
        <p:cNvPr id="1" name=""/>
        <p:cNvGrpSpPr/>
        <p:nvPr/>
      </p:nvGrpSpPr>
      <p:grpSpPr>
        <a:xfrm>
          <a:off x="0" y="0"/>
          <a:ext cx="0" cy="0"/>
          <a:chOff x="0" y="0"/>
          <a:chExt cx="0" cy="0"/>
        </a:xfrm>
      </p:grpSpPr>
      <p:sp>
        <p:nvSpPr>
          <p:cNvPr id="2" name="Text 0"/>
          <p:cNvSpPr/>
          <p:nvPr/>
        </p:nvSpPr>
        <p:spPr>
          <a:xfrm>
            <a:off x="812798" y="812798"/>
            <a:ext cx="10617173" cy="196850"/>
          </a:xfrm>
          <a:prstGeom prst="rect">
            <a:avLst/>
          </a:prstGeom>
          <a:noFill/>
          <a:ln/>
        </p:spPr>
        <p:txBody>
          <a:bodyPr wrap="square" lIns="0" tIns="0" rIns="0" bIns="0" rtlCol="0" anchor="t"/>
          <a:lstStyle/>
          <a:p>
            <a:pPr algn="l" indent="0" marL="0">
              <a:lnSpc>
                <a:spcPts val="1440"/>
              </a:lnSpc>
              <a:buNone/>
            </a:pPr>
            <a:r>
              <a:rPr lang="en-US" sz="1200" spc="100" kern="0" dirty="0">
                <a:solidFill>
                  <a:srgbClr val="39FF88"/>
                </a:solidFill>
                <a:latin typeface="JetBrains Mono" pitchFamily="34" charset="0"/>
                <a:ea typeface="JetBrains Mono" pitchFamily="34" charset="-122"/>
                <a:cs typeface="JetBrains Mono" pitchFamily="34" charset="-120"/>
              </a:rPr>
              <a:t>// THE FAKE CLOCK</a:t>
            </a:r>
            <a:endParaRPr lang="en-US" sz="1200" dirty="0"/>
          </a:p>
        </p:txBody>
      </p:sp>
      <p:sp>
        <p:nvSpPr>
          <p:cNvPr id="3" name="Text 1"/>
          <p:cNvSpPr/>
          <p:nvPr/>
        </p:nvSpPr>
        <p:spPr>
          <a:xfrm>
            <a:off x="812798" y="1263647"/>
            <a:ext cx="10617173" cy="1005679"/>
          </a:xfrm>
          <a:prstGeom prst="rect">
            <a:avLst/>
          </a:prstGeom>
          <a:noFill/>
          <a:ln/>
        </p:spPr>
        <p:txBody>
          <a:bodyPr wrap="square" lIns="0" tIns="0" rIns="0" bIns="0" rtlCol="0" anchor="t"/>
          <a:lstStyle/>
          <a:p>
            <a:pPr algn="l" indent="0" marL="0">
              <a:lnSpc>
                <a:spcPts val="3960"/>
              </a:lnSpc>
              <a:buNone/>
            </a:pPr>
            <a:r>
              <a:rPr lang="en-US" sz="3600" b="1" dirty="0">
                <a:solidFill>
                  <a:srgbClr val="39FF88"/>
                </a:solidFill>
                <a:latin typeface="JetBrains Mono" pitchFamily="34" charset="0"/>
                <a:ea typeface="JetBrains Mono" pitchFamily="34" charset="-122"/>
                <a:cs typeface="JetBrains Mono" pitchFamily="34" charset="-120"/>
              </a:rPr>
              <a:t>~$</a:t>
            </a:r>
            <a:pPr algn="l" indent="0" marL="0">
              <a:lnSpc>
                <a:spcPts val="3960"/>
              </a:lnSpc>
              <a:buNone/>
            </a:pPr>
            <a:r>
              <a:rPr lang="en-US" sz="3600" b="1" dirty="0">
                <a:solidFill>
                  <a:srgbClr val="F4F6F1"/>
                </a:solidFill>
                <a:latin typeface="JetBrains Mono" pitchFamily="34" charset="0"/>
                <a:ea typeface="JetBrains Mono" pitchFamily="34" charset="-122"/>
                <a:cs typeface="JetBrains Mono" pitchFamily="34" charset="-120"/>
              </a:rPr>
              <a:t> Three hours without caffeine takes milliseconds</a:t>
            </a:r>
            <a:endParaRPr lang="en-US" sz="3600" dirty="0"/>
          </a:p>
        </p:txBody>
      </p:sp>
      <p:sp>
        <p:nvSpPr>
          <p:cNvPr id="4" name="Shape 2"/>
          <p:cNvSpPr/>
          <p:nvPr/>
        </p:nvSpPr>
        <p:spPr>
          <a:xfrm>
            <a:off x="812798" y="2523325"/>
            <a:ext cx="5181587" cy="1636907"/>
          </a:xfrm>
          <a:prstGeom prst="roundRect">
            <a:avLst>
              <a:gd name="adj" fmla="val 4655"/>
            </a:avLst>
          </a:prstGeom>
          <a:solidFill>
            <a:srgbClr val="111812"/>
          </a:solidFill>
          <a:ln w="9525">
            <a:solidFill>
              <a:srgbClr val="24402C"/>
            </a:solidFill>
            <a:prstDash val="solid"/>
          </a:ln>
        </p:spPr>
      </p:sp>
      <p:sp>
        <p:nvSpPr>
          <p:cNvPr id="5" name="Shape 3"/>
          <p:cNvSpPr/>
          <p:nvPr/>
        </p:nvSpPr>
        <p:spPr>
          <a:xfrm>
            <a:off x="1047747" y="2834474"/>
            <a:ext cx="152400" cy="152400"/>
          </a:xfrm>
          <a:prstGeom prst="roundRect">
            <a:avLst>
              <a:gd name="adj" fmla="val 25000"/>
            </a:avLst>
          </a:prstGeom>
          <a:solidFill>
            <a:srgbClr val="39FF88"/>
          </a:solidFill>
          <a:ln/>
        </p:spPr>
      </p:sp>
      <p:sp>
        <p:nvSpPr>
          <p:cNvPr id="6" name="Text 4"/>
          <p:cNvSpPr/>
          <p:nvPr/>
        </p:nvSpPr>
        <p:spPr>
          <a:xfrm>
            <a:off x="1047747" y="3139273"/>
            <a:ext cx="4762488" cy="247649"/>
          </a:xfrm>
          <a:prstGeom prst="rect">
            <a:avLst/>
          </a:prstGeom>
          <a:noFill/>
          <a:ln/>
        </p:spPr>
        <p:txBody>
          <a:bodyPr wrap="square" lIns="0" tIns="0" rIns="0" bIns="0" rtlCol="0" anchor="t"/>
          <a:lstStyle/>
          <a:p>
            <a:pPr algn="l" indent="0" marL="0">
              <a:lnSpc>
                <a:spcPts val="1800"/>
              </a:lnSpc>
              <a:buNone/>
            </a:pPr>
            <a:r>
              <a:rPr lang="en-US" sz="1500" b="1" dirty="0">
                <a:solidFill>
                  <a:srgbClr val="F4F6F1"/>
                </a:solidFill>
                <a:latin typeface="IBM Plex Sans" pitchFamily="34" charset="0"/>
                <a:ea typeface="IBM Plex Sans" pitchFamily="34" charset="-122"/>
                <a:cs typeface="IBM Plex Sans" pitchFamily="34" charset="-120"/>
              </a:rPr>
              <a:t>Every test starts at the same moment</a:t>
            </a:r>
            <a:endParaRPr lang="en-US" sz="1500" dirty="0"/>
          </a:p>
        </p:txBody>
      </p:sp>
      <p:sp>
        <p:nvSpPr>
          <p:cNvPr id="7" name="Text 5"/>
          <p:cNvSpPr/>
          <p:nvPr/>
        </p:nvSpPr>
        <p:spPr>
          <a:xfrm>
            <a:off x="1047747" y="3463123"/>
            <a:ext cx="4762488" cy="462160"/>
          </a:xfrm>
          <a:prstGeom prst="rect">
            <a:avLst/>
          </a:prstGeom>
          <a:noFill/>
          <a:ln/>
        </p:spPr>
        <p:txBody>
          <a:bodyPr wrap="square" lIns="0" tIns="0" rIns="0" bIns="0" rtlCol="0" anchor="t"/>
          <a:lstStyle/>
          <a:p>
            <a:pPr algn="l" indent="0" marL="0">
              <a:lnSpc>
                <a:spcPts val="1820"/>
              </a:lnSpc>
              <a:buNone/>
            </a:pPr>
            <a:r>
              <a:rPr lang="en-US" sz="1300" dirty="0">
                <a:solidFill>
                  <a:srgbClr val="A9C9B3"/>
                </a:solidFill>
                <a:latin typeface="IBM Plex Sans" pitchFamily="34" charset="0"/>
                <a:ea typeface="IBM Plex Sans" pitchFamily="34" charset="-122"/>
                <a:cs typeface="IBM Plex Sans" pitchFamily="34" charset="-120"/>
              </a:rPr>
              <a:t>A Thursday at ten in the morning, Toronto time: inside work hours, before the cut-off, nothing logged yet.</a:t>
            </a:r>
            <a:endParaRPr lang="en-US" sz="1300" dirty="0"/>
          </a:p>
        </p:txBody>
      </p:sp>
      <p:sp>
        <p:nvSpPr>
          <p:cNvPr id="8" name="Shape 6"/>
          <p:cNvSpPr/>
          <p:nvPr/>
        </p:nvSpPr>
        <p:spPr>
          <a:xfrm>
            <a:off x="6197585" y="2523325"/>
            <a:ext cx="5181587" cy="1636907"/>
          </a:xfrm>
          <a:prstGeom prst="roundRect">
            <a:avLst>
              <a:gd name="adj" fmla="val 4655"/>
            </a:avLst>
          </a:prstGeom>
          <a:solidFill>
            <a:srgbClr val="111812"/>
          </a:solidFill>
          <a:ln w="9525">
            <a:solidFill>
              <a:srgbClr val="24402C"/>
            </a:solidFill>
            <a:prstDash val="solid"/>
          </a:ln>
        </p:spPr>
      </p:sp>
      <p:sp>
        <p:nvSpPr>
          <p:cNvPr id="9" name="Shape 7"/>
          <p:cNvSpPr/>
          <p:nvPr/>
        </p:nvSpPr>
        <p:spPr>
          <a:xfrm>
            <a:off x="6432534" y="2834474"/>
            <a:ext cx="152400" cy="152400"/>
          </a:xfrm>
          <a:prstGeom prst="roundRect">
            <a:avLst>
              <a:gd name="adj" fmla="val 25000"/>
            </a:avLst>
          </a:prstGeom>
          <a:solidFill>
            <a:srgbClr val="39FF88"/>
          </a:solidFill>
          <a:ln/>
        </p:spPr>
      </p:sp>
      <p:sp>
        <p:nvSpPr>
          <p:cNvPr id="10" name="Text 8"/>
          <p:cNvSpPr/>
          <p:nvPr/>
        </p:nvSpPr>
        <p:spPr>
          <a:xfrm>
            <a:off x="6432534" y="3139273"/>
            <a:ext cx="4762488" cy="247649"/>
          </a:xfrm>
          <a:prstGeom prst="rect">
            <a:avLst/>
          </a:prstGeom>
          <a:noFill/>
          <a:ln/>
        </p:spPr>
        <p:txBody>
          <a:bodyPr wrap="square" lIns="0" tIns="0" rIns="0" bIns="0" rtlCol="0" anchor="t"/>
          <a:lstStyle/>
          <a:p>
            <a:pPr algn="l" indent="0" marL="0">
              <a:lnSpc>
                <a:spcPts val="1800"/>
              </a:lnSpc>
              <a:buNone/>
            </a:pPr>
            <a:r>
              <a:rPr lang="en-US" sz="1500" b="1" dirty="0">
                <a:solidFill>
                  <a:srgbClr val="F4F6F1"/>
                </a:solidFill>
                <a:latin typeface="IBM Plex Sans" pitchFamily="34" charset="0"/>
                <a:ea typeface="IBM Plex Sans" pitchFamily="34" charset="-122"/>
                <a:cs typeface="IBM Plex Sans" pitchFamily="34" charset="-120"/>
              </a:rPr>
              <a:t>Time moves only when the test says so</a:t>
            </a:r>
            <a:endParaRPr lang="en-US" sz="1500" dirty="0"/>
          </a:p>
        </p:txBody>
      </p:sp>
      <p:sp>
        <p:nvSpPr>
          <p:cNvPr id="11" name="Text 9"/>
          <p:cNvSpPr/>
          <p:nvPr/>
        </p:nvSpPr>
        <p:spPr>
          <a:xfrm>
            <a:off x="6432534" y="3463123"/>
            <a:ext cx="4762488" cy="462160"/>
          </a:xfrm>
          <a:prstGeom prst="rect">
            <a:avLst/>
          </a:prstGeom>
          <a:noFill/>
          <a:ln/>
        </p:spPr>
        <p:txBody>
          <a:bodyPr wrap="square" lIns="0" tIns="0" rIns="0" bIns="0" rtlCol="0" anchor="t"/>
          <a:lstStyle/>
          <a:p>
            <a:pPr algn="l" indent="0" marL="0">
              <a:lnSpc>
                <a:spcPts val="1820"/>
              </a:lnSpc>
              <a:buNone/>
            </a:pPr>
            <a:r>
              <a:rPr lang="en-US" sz="1300" dirty="0">
                <a:solidFill>
                  <a:srgbClr val="A9C9B3"/>
                </a:solidFill>
                <a:latin typeface="IBM Plex Sans" pitchFamily="34" charset="0"/>
                <a:ea typeface="IBM Plex Sans" pitchFamily="34" charset="-122"/>
                <a:cs typeface="IBM Plex Sans" pitchFamily="34" charset="-120"/>
              </a:rPr>
              <a:t>Advance two hours and every timer that came due runs. No sleeps anywhere; the project rules forbid them.</a:t>
            </a:r>
            <a:endParaRPr lang="en-US" sz="1300" dirty="0"/>
          </a:p>
        </p:txBody>
      </p:sp>
      <p:sp>
        <p:nvSpPr>
          <p:cNvPr id="12" name="Shape 10"/>
          <p:cNvSpPr/>
          <p:nvPr/>
        </p:nvSpPr>
        <p:spPr>
          <a:xfrm>
            <a:off x="812798" y="4363431"/>
            <a:ext cx="5181587" cy="1636907"/>
          </a:xfrm>
          <a:prstGeom prst="roundRect">
            <a:avLst>
              <a:gd name="adj" fmla="val 4655"/>
            </a:avLst>
          </a:prstGeom>
          <a:solidFill>
            <a:srgbClr val="111812"/>
          </a:solidFill>
          <a:ln w="9525">
            <a:solidFill>
              <a:srgbClr val="24402C"/>
            </a:solidFill>
            <a:prstDash val="solid"/>
          </a:ln>
        </p:spPr>
      </p:sp>
      <p:sp>
        <p:nvSpPr>
          <p:cNvPr id="13" name="Shape 11"/>
          <p:cNvSpPr/>
          <p:nvPr/>
        </p:nvSpPr>
        <p:spPr>
          <a:xfrm>
            <a:off x="1047747" y="4674581"/>
            <a:ext cx="152400" cy="152400"/>
          </a:xfrm>
          <a:prstGeom prst="roundRect">
            <a:avLst>
              <a:gd name="adj" fmla="val 25000"/>
            </a:avLst>
          </a:prstGeom>
          <a:solidFill>
            <a:srgbClr val="39FF88"/>
          </a:solidFill>
          <a:ln/>
        </p:spPr>
      </p:sp>
      <p:sp>
        <p:nvSpPr>
          <p:cNvPr id="14" name="Text 12"/>
          <p:cNvSpPr/>
          <p:nvPr/>
        </p:nvSpPr>
        <p:spPr>
          <a:xfrm>
            <a:off x="1047747" y="4979380"/>
            <a:ext cx="4762488" cy="247649"/>
          </a:xfrm>
          <a:prstGeom prst="rect">
            <a:avLst/>
          </a:prstGeom>
          <a:noFill/>
          <a:ln/>
        </p:spPr>
        <p:txBody>
          <a:bodyPr wrap="square" lIns="0" tIns="0" rIns="0" bIns="0" rtlCol="0" anchor="t"/>
          <a:lstStyle/>
          <a:p>
            <a:pPr algn="l" indent="0" marL="0">
              <a:lnSpc>
                <a:spcPts val="1800"/>
              </a:lnSpc>
              <a:buNone/>
            </a:pPr>
            <a:r>
              <a:rPr lang="en-US" sz="1500" b="1" dirty="0">
                <a:solidFill>
                  <a:srgbClr val="F4F6F1"/>
                </a:solidFill>
                <a:latin typeface="IBM Plex Sans" pitchFamily="34" charset="0"/>
                <a:ea typeface="IBM Plex Sans" pitchFamily="34" charset="-122"/>
                <a:cs typeface="IBM Plex Sans" pitchFamily="34" charset="-120"/>
              </a:rPr>
              <a:t>The laptop-went-to-sleep test</a:t>
            </a:r>
            <a:endParaRPr lang="en-US" sz="1500" dirty="0"/>
          </a:p>
        </p:txBody>
      </p:sp>
      <p:sp>
        <p:nvSpPr>
          <p:cNvPr id="15" name="Text 13"/>
          <p:cNvSpPr/>
          <p:nvPr/>
        </p:nvSpPr>
        <p:spPr>
          <a:xfrm>
            <a:off x="1047747" y="5303229"/>
            <a:ext cx="4762488" cy="462160"/>
          </a:xfrm>
          <a:prstGeom prst="rect">
            <a:avLst/>
          </a:prstGeom>
          <a:noFill/>
          <a:ln/>
        </p:spPr>
        <p:txBody>
          <a:bodyPr wrap="square" lIns="0" tIns="0" rIns="0" bIns="0" rtlCol="0" anchor="t"/>
          <a:lstStyle/>
          <a:p>
            <a:pPr algn="l" indent="0" marL="0">
              <a:lnSpc>
                <a:spcPts val="1820"/>
              </a:lnSpc>
              <a:buNone/>
            </a:pPr>
            <a:r>
              <a:rPr lang="en-US" sz="1300" dirty="0">
                <a:solidFill>
                  <a:srgbClr val="A9C9B3"/>
                </a:solidFill>
                <a:latin typeface="IBM Plex Sans" pitchFamily="34" charset="0"/>
                <a:ea typeface="IBM Plex Sans" pitchFamily="34" charset="-122"/>
                <a:cs typeface="IBM Plex Sans" pitchFamily="34" charset="-120"/>
              </a:rPr>
              <a:t>Jump the clock without running timers, then make the tab visible again. The next check fires right away, as designed.</a:t>
            </a:r>
            <a:endParaRPr lang="en-US" sz="1300" dirty="0"/>
          </a:p>
        </p:txBody>
      </p:sp>
      <p:sp>
        <p:nvSpPr>
          <p:cNvPr id="16" name="Shape 14"/>
          <p:cNvSpPr/>
          <p:nvPr/>
        </p:nvSpPr>
        <p:spPr>
          <a:xfrm>
            <a:off x="6197585" y="4363431"/>
            <a:ext cx="5181587" cy="1636907"/>
          </a:xfrm>
          <a:prstGeom prst="roundRect">
            <a:avLst>
              <a:gd name="adj" fmla="val 4655"/>
            </a:avLst>
          </a:prstGeom>
          <a:solidFill>
            <a:srgbClr val="111812"/>
          </a:solidFill>
          <a:ln w="9525">
            <a:solidFill>
              <a:srgbClr val="24402C"/>
            </a:solidFill>
            <a:prstDash val="solid"/>
          </a:ln>
        </p:spPr>
      </p:sp>
      <p:sp>
        <p:nvSpPr>
          <p:cNvPr id="17" name="Shape 15"/>
          <p:cNvSpPr/>
          <p:nvPr/>
        </p:nvSpPr>
        <p:spPr>
          <a:xfrm>
            <a:off x="6432534" y="4674581"/>
            <a:ext cx="152400" cy="152400"/>
          </a:xfrm>
          <a:prstGeom prst="roundRect">
            <a:avLst>
              <a:gd name="adj" fmla="val 25000"/>
            </a:avLst>
          </a:prstGeom>
          <a:solidFill>
            <a:srgbClr val="39FF88"/>
          </a:solidFill>
          <a:ln/>
        </p:spPr>
      </p:sp>
      <p:sp>
        <p:nvSpPr>
          <p:cNvPr id="18" name="Text 16"/>
          <p:cNvSpPr/>
          <p:nvPr/>
        </p:nvSpPr>
        <p:spPr>
          <a:xfrm>
            <a:off x="6432534" y="4979380"/>
            <a:ext cx="4762488" cy="247649"/>
          </a:xfrm>
          <a:prstGeom prst="rect">
            <a:avLst/>
          </a:prstGeom>
          <a:noFill/>
          <a:ln/>
        </p:spPr>
        <p:txBody>
          <a:bodyPr wrap="square" lIns="0" tIns="0" rIns="0" bIns="0" rtlCol="0" anchor="t"/>
          <a:lstStyle/>
          <a:p>
            <a:pPr algn="l" indent="0" marL="0">
              <a:lnSpc>
                <a:spcPts val="1800"/>
              </a:lnSpc>
              <a:buNone/>
            </a:pPr>
            <a:r>
              <a:rPr lang="en-US" sz="1500" b="1" dirty="0">
                <a:solidFill>
                  <a:srgbClr val="F4F6F1"/>
                </a:solidFill>
                <a:latin typeface="IBM Plex Sans" pitchFamily="34" charset="0"/>
                <a:ea typeface="IBM Plex Sans" pitchFamily="34" charset="-122"/>
                <a:cs typeface="IBM Plex Sans" pitchFamily="34" charset="-120"/>
              </a:rPr>
              <a:t>Notifications are recorded, not shown</a:t>
            </a:r>
            <a:endParaRPr lang="en-US" sz="1500" dirty="0"/>
          </a:p>
        </p:txBody>
      </p:sp>
      <p:sp>
        <p:nvSpPr>
          <p:cNvPr id="19" name="Text 17"/>
          <p:cNvSpPr/>
          <p:nvPr/>
        </p:nvSpPr>
        <p:spPr>
          <a:xfrm>
            <a:off x="6432534" y="5303229"/>
            <a:ext cx="4762488" cy="462160"/>
          </a:xfrm>
          <a:prstGeom prst="rect">
            <a:avLst/>
          </a:prstGeom>
          <a:noFill/>
          <a:ln/>
        </p:spPr>
        <p:txBody>
          <a:bodyPr wrap="square" lIns="0" tIns="0" rIns="0" bIns="0" rtlCol="0" anchor="t"/>
          <a:lstStyle/>
          <a:p>
            <a:pPr algn="l" indent="0" marL="0">
              <a:lnSpc>
                <a:spcPts val="1820"/>
              </a:lnSpc>
              <a:buNone/>
            </a:pPr>
            <a:r>
              <a:rPr lang="en-US" sz="1300" dirty="0">
                <a:solidFill>
                  <a:srgbClr val="A9C9B3"/>
                </a:solidFill>
                <a:latin typeface="IBM Plex Sans" pitchFamily="34" charset="0"/>
                <a:ea typeface="IBM Plex Sans" pitchFamily="34" charset="-122"/>
                <a:cs typeface="IBM Plex Sans" pitchFamily="34" charset="-120"/>
              </a:rPr>
              <a:t>A stub stands in for the browser’s notification API, so a test can assert one was sent, or that the banner appeared instead.</a:t>
            </a:r>
            <a:endParaRPr lang="en-US" sz="1300" dirty="0"/>
          </a:p>
        </p:txBody>
      </p:sp>
      <p:sp>
        <p:nvSpPr>
          <p:cNvPr id="20" name="Text 18"/>
          <p:cNvSpPr/>
          <p:nvPr/>
        </p:nvSpPr>
        <p:spPr>
          <a:xfrm>
            <a:off x="812798" y="6254734"/>
            <a:ext cx="10617173" cy="196850"/>
          </a:xfrm>
          <a:prstGeom prst="rect">
            <a:avLst/>
          </a:prstGeom>
          <a:noFill/>
          <a:ln/>
        </p:spPr>
        <p:txBody>
          <a:bodyPr wrap="square" lIns="0" tIns="0" rIns="0" bIns="0" rtlCol="0" anchor="t"/>
          <a:lstStyle/>
          <a:p>
            <a:pPr algn="l" indent="0" marL="0">
              <a:lnSpc>
                <a:spcPts val="1440"/>
              </a:lnSpc>
              <a:buNone/>
            </a:pPr>
            <a:r>
              <a:rPr lang="en-US" sz="1200" dirty="0">
                <a:solidFill>
                  <a:srgbClr val="86B394"/>
                </a:solidFill>
                <a:latin typeface="JetBrains Mono" pitchFamily="34" charset="0"/>
                <a:ea typeface="JetBrains Mono" pitchFamily="34" charset="-122"/>
                <a:cs typeface="JetBrains Mono" pitchFamily="34" charset="-120"/>
              </a:rPr>
              <a:t>part 3 · testing</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0F0C"/>
        </a:solidFill>
      </p:bgPr>
    </p:bg>
    <p:spTree>
      <p:nvGrpSpPr>
        <p:cNvPr id="1" name=""/>
        <p:cNvGrpSpPr/>
        <p:nvPr/>
      </p:nvGrpSpPr>
      <p:grpSpPr>
        <a:xfrm>
          <a:off x="0" y="0"/>
          <a:ext cx="0" cy="0"/>
          <a:chOff x="0" y="0"/>
          <a:chExt cx="0" cy="0"/>
        </a:xfrm>
      </p:grpSpPr>
      <p:sp>
        <p:nvSpPr>
          <p:cNvPr id="2" name="Text 0"/>
          <p:cNvSpPr/>
          <p:nvPr/>
        </p:nvSpPr>
        <p:spPr>
          <a:xfrm>
            <a:off x="812798" y="812798"/>
            <a:ext cx="10617173" cy="196850"/>
          </a:xfrm>
          <a:prstGeom prst="rect">
            <a:avLst/>
          </a:prstGeom>
          <a:noFill/>
          <a:ln/>
        </p:spPr>
        <p:txBody>
          <a:bodyPr wrap="square" lIns="0" tIns="0" rIns="0" bIns="0" rtlCol="0" anchor="t"/>
          <a:lstStyle/>
          <a:p>
            <a:pPr algn="l" indent="0" marL="0">
              <a:lnSpc>
                <a:spcPts val="1440"/>
              </a:lnSpc>
              <a:buNone/>
            </a:pPr>
            <a:r>
              <a:rPr lang="en-US" sz="1200" spc="100" kern="0" dirty="0">
                <a:solidFill>
                  <a:srgbClr val="FFB000"/>
                </a:solidFill>
                <a:latin typeface="JetBrains Mono" pitchFamily="34" charset="0"/>
                <a:ea typeface="JetBrains Mono" pitchFamily="34" charset="-122"/>
                <a:cs typeface="JetBrains Mono" pitchFamily="34" charset="-120"/>
              </a:rPr>
              <a:t>// THE PLANTED BUG</a:t>
            </a:r>
            <a:endParaRPr lang="en-US" sz="1200" dirty="0"/>
          </a:p>
        </p:txBody>
      </p:sp>
      <p:sp>
        <p:nvSpPr>
          <p:cNvPr id="3" name="Text 1"/>
          <p:cNvSpPr/>
          <p:nvPr/>
        </p:nvSpPr>
        <p:spPr>
          <a:xfrm>
            <a:off x="812798" y="1263647"/>
            <a:ext cx="10617173" cy="502839"/>
          </a:xfrm>
          <a:prstGeom prst="rect">
            <a:avLst/>
          </a:prstGeom>
          <a:noFill/>
          <a:ln/>
        </p:spPr>
        <p:txBody>
          <a:bodyPr wrap="square" lIns="0" tIns="0" rIns="0" bIns="0" rtlCol="0" anchor="t"/>
          <a:lstStyle/>
          <a:p>
            <a:pPr algn="l" indent="0" marL="0">
              <a:lnSpc>
                <a:spcPts val="3960"/>
              </a:lnSpc>
              <a:buNone/>
            </a:pPr>
            <a:r>
              <a:rPr lang="en-US" sz="3600" b="1" dirty="0">
                <a:solidFill>
                  <a:srgbClr val="FFB000"/>
                </a:solidFill>
                <a:latin typeface="JetBrains Mono" pitchFamily="34" charset="0"/>
                <a:ea typeface="JetBrains Mono" pitchFamily="34" charset="-122"/>
                <a:cs typeface="JetBrains Mono" pitchFamily="34" charset="-120"/>
              </a:rPr>
              <a:t>~$</a:t>
            </a:r>
            <a:pPr algn="l" indent="0" marL="0">
              <a:lnSpc>
                <a:spcPts val="3960"/>
              </a:lnSpc>
              <a:buNone/>
            </a:pPr>
            <a:r>
              <a:rPr lang="en-US" sz="3600" b="1" dirty="0">
                <a:solidFill>
                  <a:srgbClr val="F4F6F1"/>
                </a:solidFill>
                <a:latin typeface="JetBrains Mono" pitchFamily="34" charset="0"/>
                <a:ea typeface="JetBrains Mono" pitchFamily="34" charset="-122"/>
                <a:cs typeface="JetBrains Mono" pitchFamily="34" charset="-120"/>
              </a:rPr>
              <a:t> Let the tests catch it on stage</a:t>
            </a:r>
            <a:endParaRPr lang="en-US" sz="3600" dirty="0"/>
          </a:p>
        </p:txBody>
      </p:sp>
      <p:sp>
        <p:nvSpPr>
          <p:cNvPr id="4" name="Shape 2"/>
          <p:cNvSpPr/>
          <p:nvPr/>
        </p:nvSpPr>
        <p:spPr>
          <a:xfrm>
            <a:off x="812798" y="2020486"/>
            <a:ext cx="2524119" cy="2241346"/>
          </a:xfrm>
          <a:prstGeom prst="roundRect">
            <a:avLst>
              <a:gd name="adj" fmla="val 3400"/>
            </a:avLst>
          </a:prstGeom>
          <a:solidFill>
            <a:srgbClr val="111812"/>
          </a:solidFill>
          <a:ln w="9525">
            <a:solidFill>
              <a:srgbClr val="24402C"/>
            </a:solidFill>
            <a:prstDash val="solid"/>
          </a:ln>
        </p:spPr>
      </p:sp>
      <p:sp>
        <p:nvSpPr>
          <p:cNvPr id="5" name="Text 3"/>
          <p:cNvSpPr/>
          <p:nvPr/>
        </p:nvSpPr>
        <p:spPr>
          <a:xfrm>
            <a:off x="1022347" y="2230035"/>
            <a:ext cx="2155820" cy="368299"/>
          </a:xfrm>
          <a:prstGeom prst="rect">
            <a:avLst/>
          </a:prstGeom>
          <a:noFill/>
          <a:ln/>
        </p:spPr>
        <p:txBody>
          <a:bodyPr wrap="square" lIns="0" tIns="0" rIns="0" bIns="0" rtlCol="0" anchor="t"/>
          <a:lstStyle/>
          <a:p>
            <a:pPr algn="l" indent="0" marL="0">
              <a:lnSpc>
                <a:spcPts val="2640"/>
              </a:lnSpc>
              <a:buNone/>
            </a:pPr>
            <a:r>
              <a:rPr lang="en-US" sz="2200" b="1" dirty="0">
                <a:solidFill>
                  <a:srgbClr val="FFB000"/>
                </a:solidFill>
                <a:latin typeface="JetBrains Mono" pitchFamily="34" charset="0"/>
                <a:ea typeface="JetBrains Mono" pitchFamily="34" charset="-122"/>
                <a:cs typeface="JetBrains Mono" pitchFamily="34" charset="-120"/>
              </a:rPr>
              <a:t>1</a:t>
            </a:r>
            <a:endParaRPr lang="en-US" sz="2200" dirty="0"/>
          </a:p>
        </p:txBody>
      </p:sp>
      <p:sp>
        <p:nvSpPr>
          <p:cNvPr id="6" name="Text 4"/>
          <p:cNvSpPr/>
          <p:nvPr/>
        </p:nvSpPr>
        <p:spPr>
          <a:xfrm>
            <a:off x="1022347" y="2674534"/>
            <a:ext cx="2155820" cy="234949"/>
          </a:xfrm>
          <a:prstGeom prst="rect">
            <a:avLst/>
          </a:prstGeom>
          <a:noFill/>
          <a:ln/>
        </p:spPr>
        <p:txBody>
          <a:bodyPr wrap="square" lIns="0" tIns="0" rIns="0" bIns="0" rtlCol="0" anchor="t"/>
          <a:lstStyle/>
          <a:p>
            <a:pPr algn="l" indent="0" marL="0">
              <a:lnSpc>
                <a:spcPts val="1680"/>
              </a:lnSpc>
              <a:buNone/>
            </a:pPr>
            <a:r>
              <a:rPr lang="en-US" sz="1400" b="1" dirty="0">
                <a:solidFill>
                  <a:srgbClr val="F4F6F1"/>
                </a:solidFill>
                <a:latin typeface="IBM Plex Sans" pitchFamily="34" charset="0"/>
                <a:ea typeface="IBM Plex Sans" pitchFamily="34" charset="-122"/>
                <a:cs typeface="IBM Plex Sans" pitchFamily="34" charset="-120"/>
              </a:rPr>
              <a:t>Before the session</a:t>
            </a:r>
            <a:endParaRPr lang="en-US" sz="1400" dirty="0"/>
          </a:p>
        </p:txBody>
      </p:sp>
      <p:sp>
        <p:nvSpPr>
          <p:cNvPr id="7" name="Text 5"/>
          <p:cNvSpPr/>
          <p:nvPr/>
        </p:nvSpPr>
        <p:spPr>
          <a:xfrm>
            <a:off x="1022347" y="2985683"/>
            <a:ext cx="2155820" cy="1066599"/>
          </a:xfrm>
          <a:prstGeom prst="rect">
            <a:avLst/>
          </a:prstGeom>
          <a:noFill/>
          <a:ln/>
        </p:spPr>
        <p:txBody>
          <a:bodyPr wrap="square" lIns="0" tIns="0" rIns="0" bIns="0" rtlCol="0" anchor="t"/>
          <a:lstStyle/>
          <a:p>
            <a:pPr algn="l" indent="0" marL="0">
              <a:lnSpc>
                <a:spcPts val="1680"/>
              </a:lnSpc>
              <a:buNone/>
            </a:pPr>
            <a:r>
              <a:rPr lang="en-US" sz="1200" dirty="0">
                <a:solidFill>
                  <a:srgbClr val="A9C9B3"/>
                </a:solidFill>
                <a:latin typeface="IBM Plex Sans" pitchFamily="34" charset="0"/>
                <a:ea typeface="IBM Plex Sans" pitchFamily="34" charset="-122"/>
                <a:cs typeface="IBM Plex Sans" pitchFamily="34" charset="-120"/>
              </a:rPr>
              <a:t>Flip one comparison in the cut-off check, so a reminder fires at exactly the cut-off minute. The recipe is in the testing guide.</a:t>
            </a:r>
            <a:endParaRPr lang="en-US" sz="1200" dirty="0"/>
          </a:p>
        </p:txBody>
      </p:sp>
      <p:sp>
        <p:nvSpPr>
          <p:cNvPr id="8" name="Shape 6"/>
          <p:cNvSpPr/>
          <p:nvPr/>
        </p:nvSpPr>
        <p:spPr>
          <a:xfrm>
            <a:off x="3489316" y="2020486"/>
            <a:ext cx="2524119" cy="2241346"/>
          </a:xfrm>
          <a:prstGeom prst="roundRect">
            <a:avLst>
              <a:gd name="adj" fmla="val 3400"/>
            </a:avLst>
          </a:prstGeom>
          <a:solidFill>
            <a:srgbClr val="111812"/>
          </a:solidFill>
          <a:ln w="9525">
            <a:solidFill>
              <a:srgbClr val="24402C"/>
            </a:solidFill>
            <a:prstDash val="solid"/>
          </a:ln>
        </p:spPr>
      </p:sp>
      <p:sp>
        <p:nvSpPr>
          <p:cNvPr id="9" name="Text 7"/>
          <p:cNvSpPr/>
          <p:nvPr/>
        </p:nvSpPr>
        <p:spPr>
          <a:xfrm>
            <a:off x="3698866" y="2230035"/>
            <a:ext cx="2155820" cy="368299"/>
          </a:xfrm>
          <a:prstGeom prst="rect">
            <a:avLst/>
          </a:prstGeom>
          <a:noFill/>
          <a:ln/>
        </p:spPr>
        <p:txBody>
          <a:bodyPr wrap="square" lIns="0" tIns="0" rIns="0" bIns="0" rtlCol="0" anchor="t"/>
          <a:lstStyle/>
          <a:p>
            <a:pPr algn="l" indent="0" marL="0">
              <a:lnSpc>
                <a:spcPts val="2640"/>
              </a:lnSpc>
              <a:buNone/>
            </a:pPr>
            <a:r>
              <a:rPr lang="en-US" sz="2200" b="1" dirty="0">
                <a:solidFill>
                  <a:srgbClr val="FFB000"/>
                </a:solidFill>
                <a:latin typeface="JetBrains Mono" pitchFamily="34" charset="0"/>
                <a:ea typeface="JetBrains Mono" pitchFamily="34" charset="-122"/>
                <a:cs typeface="JetBrains Mono" pitchFamily="34" charset="-120"/>
              </a:rPr>
              <a:t>2</a:t>
            </a:r>
            <a:endParaRPr lang="en-US" sz="2200" dirty="0"/>
          </a:p>
        </p:txBody>
      </p:sp>
      <p:sp>
        <p:nvSpPr>
          <p:cNvPr id="10" name="Text 8"/>
          <p:cNvSpPr/>
          <p:nvPr/>
        </p:nvSpPr>
        <p:spPr>
          <a:xfrm>
            <a:off x="3698866" y="2674534"/>
            <a:ext cx="2155820" cy="234949"/>
          </a:xfrm>
          <a:prstGeom prst="rect">
            <a:avLst/>
          </a:prstGeom>
          <a:noFill/>
          <a:ln/>
        </p:spPr>
        <p:txBody>
          <a:bodyPr wrap="square" lIns="0" tIns="0" rIns="0" bIns="0" rtlCol="0" anchor="t"/>
          <a:lstStyle/>
          <a:p>
            <a:pPr algn="l" indent="0" marL="0">
              <a:lnSpc>
                <a:spcPts val="1680"/>
              </a:lnSpc>
              <a:buNone/>
            </a:pPr>
            <a:r>
              <a:rPr lang="en-US" sz="1400" b="1" dirty="0">
                <a:solidFill>
                  <a:srgbClr val="F4F6F1"/>
                </a:solidFill>
                <a:latin typeface="IBM Plex Sans" pitchFamily="34" charset="0"/>
                <a:ea typeface="IBM Plex Sans" pitchFamily="34" charset="-122"/>
                <a:cs typeface="IBM Plex Sans" pitchFamily="34" charset="-120"/>
              </a:rPr>
              <a:t>Run the unit tests</a:t>
            </a:r>
            <a:endParaRPr lang="en-US" sz="1400" dirty="0"/>
          </a:p>
        </p:txBody>
      </p:sp>
      <p:sp>
        <p:nvSpPr>
          <p:cNvPr id="11" name="Text 9"/>
          <p:cNvSpPr/>
          <p:nvPr/>
        </p:nvSpPr>
        <p:spPr>
          <a:xfrm>
            <a:off x="3698866" y="2985683"/>
            <a:ext cx="2155820" cy="853279"/>
          </a:xfrm>
          <a:prstGeom prst="rect">
            <a:avLst/>
          </a:prstGeom>
          <a:noFill/>
          <a:ln/>
        </p:spPr>
        <p:txBody>
          <a:bodyPr wrap="square" lIns="0" tIns="0" rIns="0" bIns="0" rtlCol="0" anchor="t"/>
          <a:lstStyle/>
          <a:p>
            <a:pPr algn="l" indent="0" marL="0">
              <a:lnSpc>
                <a:spcPts val="1680"/>
              </a:lnSpc>
              <a:buNone/>
            </a:pPr>
            <a:r>
              <a:rPr lang="en-US" sz="1200" dirty="0">
                <a:solidFill>
                  <a:srgbClr val="A9C9B3"/>
                </a:solidFill>
                <a:latin typeface="IBM Plex Sans" pitchFamily="34" charset="0"/>
                <a:ea typeface="IBM Plex Sans" pitchFamily="34" charset="-122"/>
                <a:cs typeface="IBM Plex Sans" pitchFamily="34" charset="-120"/>
              </a:rPr>
              <a:t>One fails, and the message is the story: it expected the “past cut-off” reason and received “due”.</a:t>
            </a:r>
            <a:endParaRPr lang="en-US" sz="1200" dirty="0"/>
          </a:p>
        </p:txBody>
      </p:sp>
      <p:sp>
        <p:nvSpPr>
          <p:cNvPr id="12" name="Shape 10"/>
          <p:cNvSpPr/>
          <p:nvPr/>
        </p:nvSpPr>
        <p:spPr>
          <a:xfrm>
            <a:off x="6165835" y="2020486"/>
            <a:ext cx="2524119" cy="2241346"/>
          </a:xfrm>
          <a:prstGeom prst="roundRect">
            <a:avLst>
              <a:gd name="adj" fmla="val 3400"/>
            </a:avLst>
          </a:prstGeom>
          <a:solidFill>
            <a:srgbClr val="111812"/>
          </a:solidFill>
          <a:ln w="9525">
            <a:solidFill>
              <a:srgbClr val="24402C"/>
            </a:solidFill>
            <a:prstDash val="solid"/>
          </a:ln>
        </p:spPr>
      </p:sp>
      <p:sp>
        <p:nvSpPr>
          <p:cNvPr id="13" name="Text 11"/>
          <p:cNvSpPr/>
          <p:nvPr/>
        </p:nvSpPr>
        <p:spPr>
          <a:xfrm>
            <a:off x="6375384" y="2230035"/>
            <a:ext cx="2155820" cy="368299"/>
          </a:xfrm>
          <a:prstGeom prst="rect">
            <a:avLst/>
          </a:prstGeom>
          <a:noFill/>
          <a:ln/>
        </p:spPr>
        <p:txBody>
          <a:bodyPr wrap="square" lIns="0" tIns="0" rIns="0" bIns="0" rtlCol="0" anchor="t"/>
          <a:lstStyle/>
          <a:p>
            <a:pPr algn="l" indent="0" marL="0">
              <a:lnSpc>
                <a:spcPts val="2640"/>
              </a:lnSpc>
              <a:buNone/>
            </a:pPr>
            <a:r>
              <a:rPr lang="en-US" sz="2200" b="1" dirty="0">
                <a:solidFill>
                  <a:srgbClr val="FFB000"/>
                </a:solidFill>
                <a:latin typeface="JetBrains Mono" pitchFamily="34" charset="0"/>
                <a:ea typeface="JetBrains Mono" pitchFamily="34" charset="-122"/>
                <a:cs typeface="JetBrains Mono" pitchFamily="34" charset="-120"/>
              </a:rPr>
              <a:t>3</a:t>
            </a:r>
            <a:endParaRPr lang="en-US" sz="2200" dirty="0"/>
          </a:p>
        </p:txBody>
      </p:sp>
      <p:sp>
        <p:nvSpPr>
          <p:cNvPr id="14" name="Text 12"/>
          <p:cNvSpPr/>
          <p:nvPr/>
        </p:nvSpPr>
        <p:spPr>
          <a:xfrm>
            <a:off x="6375384" y="2674534"/>
            <a:ext cx="2155820" cy="234949"/>
          </a:xfrm>
          <a:prstGeom prst="rect">
            <a:avLst/>
          </a:prstGeom>
          <a:noFill/>
          <a:ln/>
        </p:spPr>
        <p:txBody>
          <a:bodyPr wrap="square" lIns="0" tIns="0" rIns="0" bIns="0" rtlCol="0" anchor="t"/>
          <a:lstStyle/>
          <a:p>
            <a:pPr algn="l" indent="0" marL="0">
              <a:lnSpc>
                <a:spcPts val="1680"/>
              </a:lnSpc>
              <a:buNone/>
            </a:pPr>
            <a:r>
              <a:rPr lang="en-US" sz="1400" b="1" dirty="0">
                <a:solidFill>
                  <a:srgbClr val="F4F6F1"/>
                </a:solidFill>
                <a:latin typeface="IBM Plex Sans" pitchFamily="34" charset="0"/>
                <a:ea typeface="IBM Plex Sans" pitchFamily="34" charset="-122"/>
                <a:cs typeface="IBM Plex Sans" pitchFamily="34" charset="-120"/>
              </a:rPr>
              <a:t>Ask for the fix</a:t>
            </a:r>
            <a:endParaRPr lang="en-US" sz="1400" dirty="0"/>
          </a:p>
        </p:txBody>
      </p:sp>
      <p:sp>
        <p:nvSpPr>
          <p:cNvPr id="15" name="Text 13"/>
          <p:cNvSpPr/>
          <p:nvPr/>
        </p:nvSpPr>
        <p:spPr>
          <a:xfrm>
            <a:off x="6375384" y="2985683"/>
            <a:ext cx="2155820" cy="853279"/>
          </a:xfrm>
          <a:prstGeom prst="rect">
            <a:avLst/>
          </a:prstGeom>
          <a:noFill/>
          <a:ln/>
        </p:spPr>
        <p:txBody>
          <a:bodyPr wrap="square" lIns="0" tIns="0" rIns="0" bIns="0" rtlCol="0" anchor="t"/>
          <a:lstStyle/>
          <a:p>
            <a:pPr algn="l" indent="0" marL="0">
              <a:lnSpc>
                <a:spcPts val="1680"/>
              </a:lnSpc>
              <a:buNone/>
            </a:pPr>
            <a:r>
              <a:rPr lang="en-US" sz="1200" dirty="0">
                <a:solidFill>
                  <a:srgbClr val="A9C9B3"/>
                </a:solidFill>
                <a:latin typeface="IBM Plex Sans" pitchFamily="34" charset="0"/>
                <a:ea typeface="IBM Plex Sans" pitchFamily="34" charset="-122"/>
                <a:cs typeface="IBM Plex Sans" pitchFamily="34" charset="-120"/>
              </a:rPr>
              <a:t>“A test is failing. Find out why and fix it.” Watch it read the assertion, the rule, and the doc’s rule ordering.</a:t>
            </a:r>
            <a:endParaRPr lang="en-US" sz="1200" dirty="0"/>
          </a:p>
        </p:txBody>
      </p:sp>
      <p:sp>
        <p:nvSpPr>
          <p:cNvPr id="16" name="Shape 14"/>
          <p:cNvSpPr/>
          <p:nvPr/>
        </p:nvSpPr>
        <p:spPr>
          <a:xfrm>
            <a:off x="8842353" y="2020486"/>
            <a:ext cx="2536819" cy="2241346"/>
          </a:xfrm>
          <a:prstGeom prst="roundRect">
            <a:avLst>
              <a:gd name="adj" fmla="val 3400"/>
            </a:avLst>
          </a:prstGeom>
          <a:solidFill>
            <a:srgbClr val="16201A"/>
          </a:solidFill>
          <a:ln w="12700">
            <a:solidFill>
              <a:srgbClr val="39FF88"/>
            </a:solidFill>
            <a:prstDash val="solid"/>
          </a:ln>
        </p:spPr>
      </p:sp>
      <p:sp>
        <p:nvSpPr>
          <p:cNvPr id="17" name="Text 15"/>
          <p:cNvSpPr/>
          <p:nvPr/>
        </p:nvSpPr>
        <p:spPr>
          <a:xfrm>
            <a:off x="9058252" y="2236385"/>
            <a:ext cx="2155820" cy="368299"/>
          </a:xfrm>
          <a:prstGeom prst="rect">
            <a:avLst/>
          </a:prstGeom>
          <a:noFill/>
          <a:ln/>
        </p:spPr>
        <p:txBody>
          <a:bodyPr wrap="square" lIns="0" tIns="0" rIns="0" bIns="0" rtlCol="0" anchor="t"/>
          <a:lstStyle/>
          <a:p>
            <a:pPr algn="l" indent="0" marL="0">
              <a:lnSpc>
                <a:spcPts val="2640"/>
              </a:lnSpc>
              <a:buNone/>
            </a:pPr>
            <a:r>
              <a:rPr lang="en-US" sz="2200" b="1" dirty="0">
                <a:solidFill>
                  <a:srgbClr val="39FF88"/>
                </a:solidFill>
                <a:latin typeface="JetBrains Mono" pitchFamily="34" charset="0"/>
                <a:ea typeface="JetBrains Mono" pitchFamily="34" charset="-122"/>
                <a:cs typeface="JetBrains Mono" pitchFamily="34" charset="-120"/>
              </a:rPr>
              <a:t>4</a:t>
            </a:r>
            <a:endParaRPr lang="en-US" sz="2200" dirty="0"/>
          </a:p>
        </p:txBody>
      </p:sp>
      <p:sp>
        <p:nvSpPr>
          <p:cNvPr id="18" name="Text 16"/>
          <p:cNvSpPr/>
          <p:nvPr/>
        </p:nvSpPr>
        <p:spPr>
          <a:xfrm>
            <a:off x="9058252" y="2680884"/>
            <a:ext cx="2155820" cy="234949"/>
          </a:xfrm>
          <a:prstGeom prst="rect">
            <a:avLst/>
          </a:prstGeom>
          <a:noFill/>
          <a:ln/>
        </p:spPr>
        <p:txBody>
          <a:bodyPr wrap="square" lIns="0" tIns="0" rIns="0" bIns="0" rtlCol="0" anchor="t"/>
          <a:lstStyle/>
          <a:p>
            <a:pPr algn="l" indent="0" marL="0">
              <a:lnSpc>
                <a:spcPts val="1680"/>
              </a:lnSpc>
              <a:buNone/>
            </a:pPr>
            <a:r>
              <a:rPr lang="en-US" sz="1400" b="1" dirty="0">
                <a:solidFill>
                  <a:srgbClr val="F4F6F1"/>
                </a:solidFill>
                <a:latin typeface="IBM Plex Sans" pitchFamily="34" charset="0"/>
                <a:ea typeface="IBM Plex Sans" pitchFamily="34" charset="-122"/>
                <a:cs typeface="IBM Plex Sans" pitchFamily="34" charset="-120"/>
              </a:rPr>
              <a:t>Review, then green</a:t>
            </a:r>
            <a:endParaRPr lang="en-US" sz="1400" dirty="0"/>
          </a:p>
        </p:txBody>
      </p:sp>
      <p:sp>
        <p:nvSpPr>
          <p:cNvPr id="19" name="Text 17"/>
          <p:cNvSpPr/>
          <p:nvPr/>
        </p:nvSpPr>
        <p:spPr>
          <a:xfrm>
            <a:off x="9058252" y="2992033"/>
            <a:ext cx="2155820" cy="853279"/>
          </a:xfrm>
          <a:prstGeom prst="rect">
            <a:avLst/>
          </a:prstGeom>
          <a:noFill/>
          <a:ln/>
        </p:spPr>
        <p:txBody>
          <a:bodyPr wrap="square" lIns="0" tIns="0" rIns="0" bIns="0" rtlCol="0" anchor="t"/>
          <a:lstStyle/>
          <a:p>
            <a:pPr algn="l" indent="0" marL="0">
              <a:lnSpc>
                <a:spcPts val="1680"/>
              </a:lnSpc>
              <a:buNone/>
            </a:pPr>
            <a:r>
              <a:rPr lang="en-US" sz="1200" dirty="0">
                <a:solidFill>
                  <a:srgbClr val="A9C9B3"/>
                </a:solidFill>
                <a:latin typeface="IBM Plex Sans" pitchFamily="34" charset="0"/>
                <a:ea typeface="IBM Plex Sans" pitchFamily="34" charset="-122"/>
                <a:cs typeface="IBM Plex Sans" pitchFamily="34" charset="-120"/>
              </a:rPr>
              <a:t>Run the code review command on the one-line change, then the full suite. Every dot green.</a:t>
            </a:r>
            <a:endParaRPr lang="en-US" sz="1200" dirty="0"/>
          </a:p>
        </p:txBody>
      </p:sp>
      <p:sp>
        <p:nvSpPr>
          <p:cNvPr id="20" name="Shape 18"/>
          <p:cNvSpPr/>
          <p:nvPr/>
        </p:nvSpPr>
        <p:spPr>
          <a:xfrm>
            <a:off x="812798" y="4515831"/>
            <a:ext cx="10566374" cy="916779"/>
          </a:xfrm>
          <a:prstGeom prst="roundRect">
            <a:avLst>
              <a:gd name="adj" fmla="val 8312"/>
            </a:avLst>
          </a:prstGeom>
          <a:solidFill>
            <a:srgbClr val="111812"/>
          </a:solidFill>
          <a:ln w="9525">
            <a:solidFill>
              <a:srgbClr val="24402C"/>
            </a:solidFill>
            <a:prstDash val="solid"/>
          </a:ln>
        </p:spPr>
      </p:sp>
      <p:sp>
        <p:nvSpPr>
          <p:cNvPr id="21" name="Text 19"/>
          <p:cNvSpPr/>
          <p:nvPr/>
        </p:nvSpPr>
        <p:spPr>
          <a:xfrm>
            <a:off x="1073147" y="4856746"/>
            <a:ext cx="264219" cy="234949"/>
          </a:xfrm>
          <a:prstGeom prst="rect">
            <a:avLst/>
          </a:prstGeom>
          <a:noFill/>
          <a:ln/>
        </p:spPr>
        <p:txBody>
          <a:bodyPr wrap="square" lIns="0" tIns="0" rIns="0" bIns="0" rtlCol="0" anchor="t"/>
          <a:lstStyle/>
          <a:p>
            <a:pPr algn="l" indent="0" marL="0">
              <a:lnSpc>
                <a:spcPts val="1680"/>
              </a:lnSpc>
              <a:buNone/>
            </a:pPr>
            <a:r>
              <a:rPr lang="en-US" sz="1400" dirty="0">
                <a:solidFill>
                  <a:srgbClr val="FFB000"/>
                </a:solidFill>
                <a:latin typeface="JetBrains Mono" pitchFamily="34" charset="0"/>
                <a:ea typeface="JetBrains Mono" pitchFamily="34" charset="-122"/>
                <a:cs typeface="JetBrains Mono" pitchFamily="34" charset="-120"/>
              </a:rPr>
              <a:t>or</a:t>
            </a:r>
            <a:endParaRPr lang="en-US" sz="1400" dirty="0"/>
          </a:p>
        </p:txBody>
      </p:sp>
      <p:sp>
        <p:nvSpPr>
          <p:cNvPr id="22" name="Text 20"/>
          <p:cNvSpPr/>
          <p:nvPr/>
        </p:nvSpPr>
        <p:spPr>
          <a:xfrm>
            <a:off x="1438966" y="4725380"/>
            <a:ext cx="9730656" cy="497680"/>
          </a:xfrm>
          <a:prstGeom prst="rect">
            <a:avLst/>
          </a:prstGeom>
          <a:noFill/>
          <a:ln/>
        </p:spPr>
        <p:txBody>
          <a:bodyPr wrap="square" lIns="0" tIns="0" rIns="0" bIns="0" rtlCol="0" anchor="t"/>
          <a:lstStyle/>
          <a:p>
            <a:pPr algn="l" indent="0" marL="0">
              <a:lnSpc>
                <a:spcPts val="1960"/>
              </a:lnSpc>
              <a:buNone/>
            </a:pPr>
            <a:r>
              <a:rPr lang="en-US" sz="1400" dirty="0">
                <a:solidFill>
                  <a:srgbClr val="D7F5DD"/>
                </a:solidFill>
                <a:latin typeface="IBM Plex Sans" pitchFamily="34" charset="0"/>
                <a:ea typeface="IBM Plex Sans" pitchFamily="34" charset="-122"/>
                <a:cs typeface="IBM Plex Sans" pitchFamily="34" charset="-120"/>
              </a:rPr>
              <a:t>A bug with a visible effect: make the cup overflow at exactly the limit. A unit test and an end-to-end test both fail, and the audience can see the cup spill a drink too early.</a:t>
            </a:r>
            <a:endParaRPr lang="en-US" sz="1400" dirty="0"/>
          </a:p>
        </p:txBody>
      </p:sp>
      <p:sp>
        <p:nvSpPr>
          <p:cNvPr id="23" name="Text 21"/>
          <p:cNvSpPr/>
          <p:nvPr/>
        </p:nvSpPr>
        <p:spPr>
          <a:xfrm>
            <a:off x="812798" y="6254734"/>
            <a:ext cx="10617173" cy="196850"/>
          </a:xfrm>
          <a:prstGeom prst="rect">
            <a:avLst/>
          </a:prstGeom>
          <a:noFill/>
          <a:ln/>
        </p:spPr>
        <p:txBody>
          <a:bodyPr wrap="square" lIns="0" tIns="0" rIns="0" bIns="0" rtlCol="0" anchor="t"/>
          <a:lstStyle/>
          <a:p>
            <a:pPr algn="l" indent="0" marL="0">
              <a:lnSpc>
                <a:spcPts val="1440"/>
              </a:lnSpc>
              <a:buNone/>
            </a:pPr>
            <a:r>
              <a:rPr lang="en-US" sz="1200" dirty="0">
                <a:solidFill>
                  <a:srgbClr val="86B394"/>
                </a:solidFill>
                <a:latin typeface="JetBrains Mono" pitchFamily="34" charset="0"/>
                <a:ea typeface="JetBrains Mono" pitchFamily="34" charset="-122"/>
                <a:cs typeface="JetBrains Mono" pitchFamily="34" charset="-120"/>
              </a:rPr>
              <a:t>part 3 · testing</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6201A"/>
        </a:solidFill>
      </p:bgPr>
    </p:bg>
    <p:spTree>
      <p:nvGrpSpPr>
        <p:cNvPr id="1" name=""/>
        <p:cNvGrpSpPr/>
        <p:nvPr/>
      </p:nvGrpSpPr>
      <p:grpSpPr>
        <a:xfrm>
          <a:off x="0" y="0"/>
          <a:ext cx="0" cy="0"/>
          <a:chOff x="0" y="0"/>
          <a:chExt cx="0" cy="0"/>
        </a:xfrm>
      </p:grpSpPr>
      <p:sp>
        <p:nvSpPr>
          <p:cNvPr id="2" name="Text 0"/>
          <p:cNvSpPr/>
          <p:nvPr/>
        </p:nvSpPr>
        <p:spPr>
          <a:xfrm>
            <a:off x="812798" y="812798"/>
            <a:ext cx="10617173" cy="196850"/>
          </a:xfrm>
          <a:prstGeom prst="rect">
            <a:avLst/>
          </a:prstGeom>
          <a:noFill/>
          <a:ln/>
        </p:spPr>
        <p:txBody>
          <a:bodyPr wrap="square" lIns="0" tIns="0" rIns="0" bIns="0" rtlCol="0" anchor="t"/>
          <a:lstStyle/>
          <a:p>
            <a:pPr algn="l" indent="0" marL="0">
              <a:lnSpc>
                <a:spcPts val="1440"/>
              </a:lnSpc>
              <a:buNone/>
            </a:pPr>
            <a:r>
              <a:rPr lang="en-US" sz="1200" spc="100" kern="0" dirty="0">
                <a:solidFill>
                  <a:srgbClr val="39FF88"/>
                </a:solidFill>
                <a:latin typeface="JetBrains Mono" pitchFamily="34" charset="0"/>
                <a:ea typeface="JetBrains Mono" pitchFamily="34" charset="-122"/>
                <a:cs typeface="JetBrains Mono" pitchFamily="34" charset="-120"/>
              </a:rPr>
              <a:t>// TOOLING THAT CAME OUT OF THIS PART</a:t>
            </a:r>
            <a:endParaRPr lang="en-US" sz="1200" dirty="0"/>
          </a:p>
        </p:txBody>
      </p:sp>
      <p:sp>
        <p:nvSpPr>
          <p:cNvPr id="3" name="Text 1"/>
          <p:cNvSpPr/>
          <p:nvPr/>
        </p:nvSpPr>
        <p:spPr>
          <a:xfrm>
            <a:off x="812798" y="1263647"/>
            <a:ext cx="10617173" cy="1005679"/>
          </a:xfrm>
          <a:prstGeom prst="rect">
            <a:avLst/>
          </a:prstGeom>
          <a:noFill/>
          <a:ln/>
        </p:spPr>
        <p:txBody>
          <a:bodyPr wrap="square" lIns="0" tIns="0" rIns="0" bIns="0" rtlCol="0" anchor="t"/>
          <a:lstStyle/>
          <a:p>
            <a:pPr algn="l" indent="0" marL="0">
              <a:lnSpc>
                <a:spcPts val="3960"/>
              </a:lnSpc>
              <a:buNone/>
            </a:pPr>
            <a:r>
              <a:rPr lang="en-US" sz="3600" b="1" dirty="0">
                <a:solidFill>
                  <a:srgbClr val="39FF88"/>
                </a:solidFill>
                <a:latin typeface="JetBrains Mono" pitchFamily="34" charset="0"/>
                <a:ea typeface="JetBrains Mono" pitchFamily="34" charset="-122"/>
                <a:cs typeface="JetBrains Mono" pitchFamily="34" charset="-120"/>
              </a:rPr>
              <a:t>~$</a:t>
            </a:r>
            <a:pPr algn="l" indent="0" marL="0">
              <a:lnSpc>
                <a:spcPts val="3960"/>
              </a:lnSpc>
              <a:buNone/>
            </a:pPr>
            <a:r>
              <a:rPr lang="en-US" sz="3600" b="1" dirty="0">
                <a:solidFill>
                  <a:srgbClr val="F4F6F1"/>
                </a:solidFill>
                <a:latin typeface="JetBrains Mono" pitchFamily="34" charset="0"/>
                <a:ea typeface="JetBrains Mono" pitchFamily="34" charset="-122"/>
                <a:cs typeface="JetBrains Mono" pitchFamily="34" charset="-120"/>
              </a:rPr>
              <a:t> Claude Code, extended for this project</a:t>
            </a:r>
            <a:endParaRPr lang="en-US" sz="3600" dirty="0"/>
          </a:p>
        </p:txBody>
      </p:sp>
      <p:sp>
        <p:nvSpPr>
          <p:cNvPr id="4" name="Shape 2"/>
          <p:cNvSpPr/>
          <p:nvPr/>
        </p:nvSpPr>
        <p:spPr>
          <a:xfrm>
            <a:off x="812798" y="2523325"/>
            <a:ext cx="3395059" cy="2342846"/>
          </a:xfrm>
          <a:prstGeom prst="roundRect">
            <a:avLst>
              <a:gd name="adj" fmla="val 3252"/>
            </a:avLst>
          </a:prstGeom>
          <a:solidFill>
            <a:srgbClr val="111812"/>
          </a:solidFill>
          <a:ln w="12700">
            <a:solidFill>
              <a:srgbClr val="39FF88"/>
            </a:solidFill>
            <a:prstDash val="solid"/>
          </a:ln>
        </p:spPr>
      </p:sp>
      <p:sp>
        <p:nvSpPr>
          <p:cNvPr id="5" name="Shape 3"/>
          <p:cNvSpPr/>
          <p:nvPr/>
        </p:nvSpPr>
        <p:spPr>
          <a:xfrm>
            <a:off x="1054097" y="2840824"/>
            <a:ext cx="152400" cy="152400"/>
          </a:xfrm>
          <a:prstGeom prst="roundRect">
            <a:avLst>
              <a:gd name="adj" fmla="val 25000"/>
            </a:avLst>
          </a:prstGeom>
          <a:solidFill>
            <a:srgbClr val="39FF88"/>
          </a:solidFill>
          <a:ln/>
        </p:spPr>
      </p:sp>
      <p:sp>
        <p:nvSpPr>
          <p:cNvPr id="6" name="Text 4"/>
          <p:cNvSpPr/>
          <p:nvPr/>
        </p:nvSpPr>
        <p:spPr>
          <a:xfrm>
            <a:off x="1054097" y="3145623"/>
            <a:ext cx="2963260" cy="247649"/>
          </a:xfrm>
          <a:prstGeom prst="rect">
            <a:avLst/>
          </a:prstGeom>
          <a:noFill/>
          <a:ln/>
        </p:spPr>
        <p:txBody>
          <a:bodyPr wrap="square" lIns="0" tIns="0" rIns="0" bIns="0" rtlCol="0" anchor="t"/>
          <a:lstStyle/>
          <a:p>
            <a:pPr algn="l" indent="0" marL="0">
              <a:lnSpc>
                <a:spcPts val="1800"/>
              </a:lnSpc>
              <a:buNone/>
            </a:pPr>
            <a:r>
              <a:rPr lang="en-US" sz="1500" b="1" dirty="0">
                <a:solidFill>
                  <a:srgbClr val="F4F6F1"/>
                </a:solidFill>
                <a:latin typeface="IBM Plex Sans" pitchFamily="34" charset="0"/>
                <a:ea typeface="IBM Plex Sans" pitchFamily="34" charset="-122"/>
                <a:cs typeface="IBM Plex Sans" pitchFamily="34" charset="-120"/>
              </a:rPr>
              <a:t>A Playwright pane</a:t>
            </a:r>
            <a:endParaRPr lang="en-US" sz="1500" dirty="0"/>
          </a:p>
        </p:txBody>
      </p:sp>
      <p:sp>
        <p:nvSpPr>
          <p:cNvPr id="7" name="Text 5"/>
          <p:cNvSpPr/>
          <p:nvPr/>
        </p:nvSpPr>
        <p:spPr>
          <a:xfrm>
            <a:off x="1054097" y="3469473"/>
            <a:ext cx="2963260" cy="1155399"/>
          </a:xfrm>
          <a:prstGeom prst="rect">
            <a:avLst/>
          </a:prstGeom>
          <a:noFill/>
          <a:ln/>
        </p:spPr>
        <p:txBody>
          <a:bodyPr wrap="square" lIns="0" tIns="0" rIns="0" bIns="0" rtlCol="0" anchor="t"/>
          <a:lstStyle/>
          <a:p>
            <a:pPr algn="l" indent="0" marL="0">
              <a:lnSpc>
                <a:spcPts val="1820"/>
              </a:lnSpc>
              <a:buNone/>
            </a:pPr>
            <a:r>
              <a:rPr lang="en-US" sz="1300" dirty="0">
                <a:solidFill>
                  <a:srgbClr val="A9C9B3"/>
                </a:solidFill>
                <a:latin typeface="IBM Plex Sans" pitchFamily="34" charset="0"/>
                <a:ea typeface="IBM Plex Sans" pitchFamily="34" charset="-122"/>
                <a:cs typeface="IBM Plex Sans" pitchFamily="34" charset="-120"/>
              </a:rPr>
              <a:t>Lists the tests beside the chat. Run all, one file or one test and watch the dots turn green. A failure links its screenshot, video and trace. Claude gets a run-tests tool of its own.</a:t>
            </a:r>
            <a:endParaRPr lang="en-US" sz="1300" dirty="0"/>
          </a:p>
        </p:txBody>
      </p:sp>
      <p:sp>
        <p:nvSpPr>
          <p:cNvPr id="8" name="Shape 6"/>
          <p:cNvSpPr/>
          <p:nvPr/>
        </p:nvSpPr>
        <p:spPr>
          <a:xfrm>
            <a:off x="4411056" y="2523325"/>
            <a:ext cx="3382458" cy="2342846"/>
          </a:xfrm>
          <a:prstGeom prst="roundRect">
            <a:avLst>
              <a:gd name="adj" fmla="val 3252"/>
            </a:avLst>
          </a:prstGeom>
          <a:solidFill>
            <a:srgbClr val="111812"/>
          </a:solidFill>
          <a:ln w="9525">
            <a:solidFill>
              <a:srgbClr val="24402C"/>
            </a:solidFill>
            <a:prstDash val="solid"/>
          </a:ln>
        </p:spPr>
      </p:sp>
      <p:sp>
        <p:nvSpPr>
          <p:cNvPr id="9" name="Shape 7"/>
          <p:cNvSpPr/>
          <p:nvPr/>
        </p:nvSpPr>
        <p:spPr>
          <a:xfrm>
            <a:off x="4646006" y="2834474"/>
            <a:ext cx="152400" cy="152400"/>
          </a:xfrm>
          <a:prstGeom prst="roundRect">
            <a:avLst>
              <a:gd name="adj" fmla="val 25000"/>
            </a:avLst>
          </a:prstGeom>
          <a:solidFill>
            <a:srgbClr val="39FF88"/>
          </a:solidFill>
          <a:ln/>
        </p:spPr>
      </p:sp>
      <p:sp>
        <p:nvSpPr>
          <p:cNvPr id="10" name="Text 8"/>
          <p:cNvSpPr/>
          <p:nvPr/>
        </p:nvSpPr>
        <p:spPr>
          <a:xfrm>
            <a:off x="4646006" y="3139273"/>
            <a:ext cx="2963359" cy="247649"/>
          </a:xfrm>
          <a:prstGeom prst="rect">
            <a:avLst/>
          </a:prstGeom>
          <a:noFill/>
          <a:ln/>
        </p:spPr>
        <p:txBody>
          <a:bodyPr wrap="square" lIns="0" tIns="0" rIns="0" bIns="0" rtlCol="0" anchor="t"/>
          <a:lstStyle/>
          <a:p>
            <a:pPr algn="l" indent="0" marL="0">
              <a:lnSpc>
                <a:spcPts val="1800"/>
              </a:lnSpc>
              <a:buNone/>
            </a:pPr>
            <a:r>
              <a:rPr lang="en-US" sz="1500" b="1" dirty="0">
                <a:solidFill>
                  <a:srgbClr val="F4F6F1"/>
                </a:solidFill>
                <a:latin typeface="IBM Plex Sans" pitchFamily="34" charset="0"/>
                <a:ea typeface="IBM Plex Sans" pitchFamily="34" charset="-122"/>
                <a:cs typeface="IBM Plex Sans" pitchFamily="34" charset="-120"/>
              </a:rPr>
              <a:t>A typecheck hook</a:t>
            </a:r>
            <a:endParaRPr lang="en-US" sz="1500" dirty="0"/>
          </a:p>
        </p:txBody>
      </p:sp>
      <p:sp>
        <p:nvSpPr>
          <p:cNvPr id="11" name="Text 9"/>
          <p:cNvSpPr/>
          <p:nvPr/>
        </p:nvSpPr>
        <p:spPr>
          <a:xfrm>
            <a:off x="4646006" y="3463123"/>
            <a:ext cx="2963359" cy="1155399"/>
          </a:xfrm>
          <a:prstGeom prst="rect">
            <a:avLst/>
          </a:prstGeom>
          <a:noFill/>
          <a:ln/>
        </p:spPr>
        <p:txBody>
          <a:bodyPr wrap="square" lIns="0" tIns="0" rIns="0" bIns="0" rtlCol="0" anchor="t"/>
          <a:lstStyle/>
          <a:p>
            <a:pPr algn="l" indent="0" marL="0">
              <a:lnSpc>
                <a:spcPts val="1820"/>
              </a:lnSpc>
              <a:buNone/>
            </a:pPr>
            <a:r>
              <a:rPr lang="en-US" sz="1300" dirty="0">
                <a:solidFill>
                  <a:srgbClr val="A9C9B3"/>
                </a:solidFill>
                <a:latin typeface="IBM Plex Sans" pitchFamily="34" charset="0"/>
                <a:ea typeface="IBM Plex Sans" pitchFamily="34" charset="-122"/>
                <a:cs typeface="IBM Plex Sans" pitchFamily="34" charset="-120"/>
              </a:rPr>
              <a:t>After every edit, the workspace that owns the file is typechecked and any error is handed straight back to the session. Mistakes last seconds, not a commit.</a:t>
            </a:r>
            <a:endParaRPr lang="en-US" sz="1300" dirty="0"/>
          </a:p>
        </p:txBody>
      </p:sp>
      <p:sp>
        <p:nvSpPr>
          <p:cNvPr id="12" name="Shape 10"/>
          <p:cNvSpPr/>
          <p:nvPr/>
        </p:nvSpPr>
        <p:spPr>
          <a:xfrm>
            <a:off x="7996714" y="2523325"/>
            <a:ext cx="3382458" cy="2342846"/>
          </a:xfrm>
          <a:prstGeom prst="roundRect">
            <a:avLst>
              <a:gd name="adj" fmla="val 3252"/>
            </a:avLst>
          </a:prstGeom>
          <a:solidFill>
            <a:srgbClr val="111812"/>
          </a:solidFill>
          <a:ln w="9525">
            <a:solidFill>
              <a:srgbClr val="24402C"/>
            </a:solidFill>
            <a:prstDash val="solid"/>
          </a:ln>
        </p:spPr>
      </p:sp>
      <p:sp>
        <p:nvSpPr>
          <p:cNvPr id="13" name="Shape 11"/>
          <p:cNvSpPr/>
          <p:nvPr/>
        </p:nvSpPr>
        <p:spPr>
          <a:xfrm>
            <a:off x="8231663" y="2834474"/>
            <a:ext cx="152400" cy="152400"/>
          </a:xfrm>
          <a:prstGeom prst="roundRect">
            <a:avLst>
              <a:gd name="adj" fmla="val 25000"/>
            </a:avLst>
          </a:prstGeom>
          <a:solidFill>
            <a:srgbClr val="39FF88"/>
          </a:solidFill>
          <a:ln/>
        </p:spPr>
      </p:sp>
      <p:sp>
        <p:nvSpPr>
          <p:cNvPr id="14" name="Text 12"/>
          <p:cNvSpPr/>
          <p:nvPr/>
        </p:nvSpPr>
        <p:spPr>
          <a:xfrm>
            <a:off x="8231663" y="3139273"/>
            <a:ext cx="2963359" cy="247649"/>
          </a:xfrm>
          <a:prstGeom prst="rect">
            <a:avLst/>
          </a:prstGeom>
          <a:noFill/>
          <a:ln/>
        </p:spPr>
        <p:txBody>
          <a:bodyPr wrap="square" lIns="0" tIns="0" rIns="0" bIns="0" rtlCol="0" anchor="t"/>
          <a:lstStyle/>
          <a:p>
            <a:pPr algn="l" indent="0" marL="0">
              <a:lnSpc>
                <a:spcPts val="1800"/>
              </a:lnSpc>
              <a:buNone/>
            </a:pPr>
            <a:r>
              <a:rPr lang="en-US" sz="1500" b="1" dirty="0">
                <a:solidFill>
                  <a:srgbClr val="F4F6F1"/>
                </a:solidFill>
                <a:latin typeface="IBM Plex Sans" pitchFamily="34" charset="0"/>
                <a:ea typeface="IBM Plex Sans" pitchFamily="34" charset="-122"/>
                <a:cs typeface="IBM Plex Sans" pitchFamily="34" charset="-120"/>
              </a:rPr>
              <a:t>A skill for the next part</a:t>
            </a:r>
            <a:endParaRPr lang="en-US" sz="1500" dirty="0"/>
          </a:p>
        </p:txBody>
      </p:sp>
      <p:sp>
        <p:nvSpPr>
          <p:cNvPr id="15" name="Text 13"/>
          <p:cNvSpPr/>
          <p:nvPr/>
        </p:nvSpPr>
        <p:spPr>
          <a:xfrm>
            <a:off x="8231663" y="3463123"/>
            <a:ext cx="2963359" cy="924320"/>
          </a:xfrm>
          <a:prstGeom prst="rect">
            <a:avLst/>
          </a:prstGeom>
          <a:noFill/>
          <a:ln/>
        </p:spPr>
        <p:txBody>
          <a:bodyPr wrap="square" lIns="0" tIns="0" rIns="0" bIns="0" rtlCol="0" anchor="t"/>
          <a:lstStyle/>
          <a:p>
            <a:pPr algn="l" indent="0" marL="0">
              <a:lnSpc>
                <a:spcPts val="1820"/>
              </a:lnSpc>
              <a:buNone/>
            </a:pPr>
            <a:r>
              <a:rPr lang="en-US" sz="1300" dirty="0">
                <a:solidFill>
                  <a:srgbClr val="A9C9B3"/>
                </a:solidFill>
                <a:latin typeface="IBM Plex Sans" pitchFamily="34" charset="0"/>
                <a:ea typeface="IBM Plex Sans" pitchFamily="34" charset="-122"/>
                <a:cs typeface="IBM Plex Sans" pitchFamily="34" charset="-120"/>
              </a:rPr>
              <a:t>The routine of this demo, clone the previous part, build, verify, commit, tag, written once as a skill. Part 4 starts by invoking it.</a:t>
            </a:r>
            <a:endParaRPr lang="en-US" sz="1300" dirty="0"/>
          </a:p>
        </p:txBody>
      </p:sp>
      <p:sp>
        <p:nvSpPr>
          <p:cNvPr id="16" name="Text 14"/>
          <p:cNvSpPr/>
          <p:nvPr/>
        </p:nvSpPr>
        <p:spPr>
          <a:xfrm>
            <a:off x="812798" y="5120171"/>
            <a:ext cx="10617173" cy="248840"/>
          </a:xfrm>
          <a:prstGeom prst="rect">
            <a:avLst/>
          </a:prstGeom>
          <a:noFill/>
          <a:ln/>
        </p:spPr>
        <p:txBody>
          <a:bodyPr wrap="square" lIns="0" tIns="0" rIns="0" bIns="0" rtlCol="0" anchor="t"/>
          <a:lstStyle/>
          <a:p>
            <a:pPr algn="l" indent="0" marL="0">
              <a:lnSpc>
                <a:spcPts val="1960"/>
              </a:lnSpc>
              <a:buNone/>
            </a:pPr>
            <a:r>
              <a:rPr lang="en-US" sz="1400" dirty="0">
                <a:solidFill>
                  <a:srgbClr val="A9C9B3"/>
                </a:solidFill>
                <a:latin typeface="IBM Plex Sans" pitchFamily="34" charset="0"/>
                <a:ea typeface="IBM Plex Sans" pitchFamily="34" charset="-122"/>
                <a:cs typeface="IBM Plex Sans" pitchFamily="34" charset="-120"/>
              </a:rPr>
              <a:t>The pane and a second helper mod live in a local marketplace, so they load in every session on this machine.</a:t>
            </a:r>
            <a:endParaRPr lang="en-US" sz="1400" dirty="0"/>
          </a:p>
        </p:txBody>
      </p:sp>
      <p:sp>
        <p:nvSpPr>
          <p:cNvPr id="17" name="Text 15"/>
          <p:cNvSpPr/>
          <p:nvPr/>
        </p:nvSpPr>
        <p:spPr>
          <a:xfrm>
            <a:off x="812798" y="6254734"/>
            <a:ext cx="10617173" cy="196850"/>
          </a:xfrm>
          <a:prstGeom prst="rect">
            <a:avLst/>
          </a:prstGeom>
          <a:noFill/>
          <a:ln/>
        </p:spPr>
        <p:txBody>
          <a:bodyPr wrap="square" lIns="0" tIns="0" rIns="0" bIns="0" rtlCol="0" anchor="t"/>
          <a:lstStyle/>
          <a:p>
            <a:pPr algn="l" indent="0" marL="0">
              <a:lnSpc>
                <a:spcPts val="1440"/>
              </a:lnSpc>
              <a:buNone/>
            </a:pPr>
            <a:r>
              <a:rPr lang="en-US" sz="1200" dirty="0">
                <a:solidFill>
                  <a:srgbClr val="86B394"/>
                </a:solidFill>
                <a:latin typeface="JetBrains Mono" pitchFamily="34" charset="0"/>
                <a:ea typeface="JetBrains Mono" pitchFamily="34" charset="-122"/>
                <a:cs typeface="JetBrains Mono" pitchFamily="34" charset="-120"/>
              </a:rPr>
              <a:t>part 3 · testing</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0F0C"/>
        </a:solidFill>
      </p:bgPr>
    </p:bg>
    <p:spTree>
      <p:nvGrpSpPr>
        <p:cNvPr id="1" name=""/>
        <p:cNvGrpSpPr/>
        <p:nvPr/>
      </p:nvGrpSpPr>
      <p:grpSpPr>
        <a:xfrm>
          <a:off x="0" y="0"/>
          <a:ext cx="0" cy="0"/>
          <a:chOff x="0" y="0"/>
          <a:chExt cx="0" cy="0"/>
        </a:xfrm>
      </p:grpSpPr>
      <p:sp>
        <p:nvSpPr>
          <p:cNvPr id="2" name="Text 0"/>
          <p:cNvSpPr/>
          <p:nvPr/>
        </p:nvSpPr>
        <p:spPr>
          <a:xfrm>
            <a:off x="812798" y="812798"/>
            <a:ext cx="10617173" cy="196850"/>
          </a:xfrm>
          <a:prstGeom prst="rect">
            <a:avLst/>
          </a:prstGeom>
          <a:noFill/>
          <a:ln/>
        </p:spPr>
        <p:txBody>
          <a:bodyPr wrap="square" lIns="0" tIns="0" rIns="0" bIns="0" rtlCol="0" anchor="t"/>
          <a:lstStyle/>
          <a:p>
            <a:pPr algn="l" indent="0" marL="0">
              <a:lnSpc>
                <a:spcPts val="1440"/>
              </a:lnSpc>
              <a:buNone/>
            </a:pPr>
            <a:r>
              <a:rPr lang="en-US" sz="1200" spc="100" kern="0" dirty="0">
                <a:solidFill>
                  <a:srgbClr val="39FF88"/>
                </a:solidFill>
                <a:latin typeface="JetBrains Mono" pitchFamily="34" charset="0"/>
                <a:ea typeface="JetBrains Mono" pitchFamily="34" charset="-122"/>
                <a:cs typeface="JetBrains Mono" pitchFamily="34" charset="-120"/>
              </a:rPr>
              <a:t>// WHAT EXISTS AT THE END OF PART 3</a:t>
            </a:r>
            <a:endParaRPr lang="en-US" sz="1200" dirty="0"/>
          </a:p>
        </p:txBody>
      </p:sp>
      <p:sp>
        <p:nvSpPr>
          <p:cNvPr id="3" name="Text 1"/>
          <p:cNvSpPr/>
          <p:nvPr/>
        </p:nvSpPr>
        <p:spPr>
          <a:xfrm>
            <a:off x="812798" y="1263647"/>
            <a:ext cx="10617173" cy="502839"/>
          </a:xfrm>
          <a:prstGeom prst="rect">
            <a:avLst/>
          </a:prstGeom>
          <a:noFill/>
          <a:ln/>
        </p:spPr>
        <p:txBody>
          <a:bodyPr wrap="square" lIns="0" tIns="0" rIns="0" bIns="0" rtlCol="0" anchor="t"/>
          <a:lstStyle/>
          <a:p>
            <a:pPr algn="l" indent="0" marL="0">
              <a:lnSpc>
                <a:spcPts val="3960"/>
              </a:lnSpc>
              <a:buNone/>
            </a:pPr>
            <a:r>
              <a:rPr lang="en-US" sz="3600" b="1" dirty="0">
                <a:solidFill>
                  <a:srgbClr val="39FF88"/>
                </a:solidFill>
                <a:latin typeface="JetBrains Mono" pitchFamily="34" charset="0"/>
                <a:ea typeface="JetBrains Mono" pitchFamily="34" charset="-122"/>
                <a:cs typeface="JetBrains Mono" pitchFamily="34" charset="-120"/>
              </a:rPr>
              <a:t>~$</a:t>
            </a:r>
            <a:pPr algn="l" indent="0" marL="0">
              <a:lnSpc>
                <a:spcPts val="3960"/>
              </a:lnSpc>
              <a:buNone/>
            </a:pPr>
            <a:r>
              <a:rPr lang="en-US" sz="3600" b="1" dirty="0">
                <a:solidFill>
                  <a:srgbClr val="F4F6F1"/>
                </a:solidFill>
                <a:latin typeface="JetBrains Mono" pitchFamily="34" charset="0"/>
                <a:ea typeface="JetBrains Mono" pitchFamily="34" charset="-122"/>
                <a:cs typeface="JetBrains Mono" pitchFamily="34" charset="-120"/>
              </a:rPr>
              <a:t> Outputs, and the safety net</a:t>
            </a:r>
            <a:endParaRPr lang="en-US" sz="3600" dirty="0"/>
          </a:p>
        </p:txBody>
      </p:sp>
      <p:sp>
        <p:nvSpPr>
          <p:cNvPr id="4" name="Shape 2"/>
          <p:cNvSpPr/>
          <p:nvPr/>
        </p:nvSpPr>
        <p:spPr>
          <a:xfrm>
            <a:off x="812798" y="2020486"/>
            <a:ext cx="3382359" cy="2121986"/>
          </a:xfrm>
          <a:prstGeom prst="roundRect">
            <a:avLst>
              <a:gd name="adj" fmla="val 3591"/>
            </a:avLst>
          </a:prstGeom>
          <a:solidFill>
            <a:srgbClr val="111812"/>
          </a:solidFill>
          <a:ln w="9525">
            <a:solidFill>
              <a:srgbClr val="24402C"/>
            </a:solidFill>
            <a:prstDash val="solid"/>
          </a:ln>
        </p:spPr>
      </p:sp>
      <p:sp>
        <p:nvSpPr>
          <p:cNvPr id="5" name="Text 3"/>
          <p:cNvSpPr/>
          <p:nvPr/>
        </p:nvSpPr>
        <p:spPr>
          <a:xfrm>
            <a:off x="1047747" y="2255435"/>
            <a:ext cx="2963260" cy="558799"/>
          </a:xfrm>
          <a:prstGeom prst="rect">
            <a:avLst/>
          </a:prstGeom>
          <a:noFill/>
          <a:ln/>
        </p:spPr>
        <p:txBody>
          <a:bodyPr wrap="square" lIns="0" tIns="0" rIns="0" bIns="0" rtlCol="0" anchor="t"/>
          <a:lstStyle/>
          <a:p>
            <a:pPr algn="l" indent="0" marL="0">
              <a:lnSpc>
                <a:spcPts val="4400"/>
              </a:lnSpc>
              <a:buNone/>
            </a:pPr>
            <a:r>
              <a:rPr lang="en-US" sz="4400" b="1" dirty="0">
                <a:solidFill>
                  <a:srgbClr val="39FF88"/>
                </a:solidFill>
                <a:latin typeface="JetBrains Mono" pitchFamily="34" charset="0"/>
                <a:ea typeface="JetBrains Mono" pitchFamily="34" charset="-122"/>
                <a:cs typeface="JetBrains Mono" pitchFamily="34" charset="-120"/>
              </a:rPr>
              <a:t>94</a:t>
            </a:r>
            <a:endParaRPr lang="en-US" sz="4400" dirty="0"/>
          </a:p>
        </p:txBody>
      </p:sp>
      <p:sp>
        <p:nvSpPr>
          <p:cNvPr id="6" name="Text 4"/>
          <p:cNvSpPr/>
          <p:nvPr/>
        </p:nvSpPr>
        <p:spPr>
          <a:xfrm>
            <a:off x="1047747" y="2890433"/>
            <a:ext cx="2963260" cy="247649"/>
          </a:xfrm>
          <a:prstGeom prst="rect">
            <a:avLst/>
          </a:prstGeom>
          <a:noFill/>
          <a:ln/>
        </p:spPr>
        <p:txBody>
          <a:bodyPr wrap="square" lIns="0" tIns="0" rIns="0" bIns="0" rtlCol="0" anchor="t"/>
          <a:lstStyle/>
          <a:p>
            <a:pPr algn="l" indent="0" marL="0">
              <a:lnSpc>
                <a:spcPts val="1800"/>
              </a:lnSpc>
              <a:buNone/>
            </a:pPr>
            <a:r>
              <a:rPr lang="en-US" sz="1500" b="1" dirty="0">
                <a:solidFill>
                  <a:srgbClr val="F4F6F1"/>
                </a:solidFill>
                <a:latin typeface="IBM Plex Sans" pitchFamily="34" charset="0"/>
                <a:ea typeface="IBM Plex Sans" pitchFamily="34" charset="-122"/>
                <a:cs typeface="IBM Plex Sans" pitchFamily="34" charset="-120"/>
              </a:rPr>
              <a:t>tests, all green</a:t>
            </a:r>
            <a:endParaRPr lang="en-US" sz="1500" dirty="0"/>
          </a:p>
        </p:txBody>
      </p:sp>
      <p:sp>
        <p:nvSpPr>
          <p:cNvPr id="7" name="Text 5"/>
          <p:cNvSpPr/>
          <p:nvPr/>
        </p:nvSpPr>
        <p:spPr>
          <a:xfrm>
            <a:off x="1047747" y="3214283"/>
            <a:ext cx="2963260" cy="693240"/>
          </a:xfrm>
          <a:prstGeom prst="rect">
            <a:avLst/>
          </a:prstGeom>
          <a:noFill/>
          <a:ln/>
        </p:spPr>
        <p:txBody>
          <a:bodyPr wrap="square" lIns="0" tIns="0" rIns="0" bIns="0" rtlCol="0" anchor="t"/>
          <a:lstStyle/>
          <a:p>
            <a:pPr algn="l" indent="0" marL="0">
              <a:lnSpc>
                <a:spcPts val="1820"/>
              </a:lnSpc>
              <a:buNone/>
            </a:pPr>
            <a:r>
              <a:rPr lang="en-US" sz="1300" dirty="0">
                <a:solidFill>
                  <a:srgbClr val="A9C9B3"/>
                </a:solidFill>
                <a:latin typeface="IBM Plex Sans" pitchFamily="34" charset="0"/>
                <a:ea typeface="IBM Plex Sans" pitchFamily="34" charset="-122"/>
                <a:cs typeface="IBM Plex Sans" pitchFamily="34" charset="-120"/>
              </a:rPr>
              <a:t>Sixty-six unit and contract tests, twenty-eight in the browser. One command runs them all.</a:t>
            </a:r>
            <a:endParaRPr lang="en-US" sz="1300" dirty="0"/>
          </a:p>
        </p:txBody>
      </p:sp>
      <p:sp>
        <p:nvSpPr>
          <p:cNvPr id="8" name="Shape 6"/>
          <p:cNvSpPr/>
          <p:nvPr/>
        </p:nvSpPr>
        <p:spPr>
          <a:xfrm>
            <a:off x="4398356" y="2020486"/>
            <a:ext cx="3382458" cy="2121986"/>
          </a:xfrm>
          <a:prstGeom prst="roundRect">
            <a:avLst>
              <a:gd name="adj" fmla="val 3591"/>
            </a:avLst>
          </a:prstGeom>
          <a:solidFill>
            <a:srgbClr val="111812"/>
          </a:solidFill>
          <a:ln w="9525">
            <a:solidFill>
              <a:srgbClr val="24402C"/>
            </a:solidFill>
            <a:prstDash val="solid"/>
          </a:ln>
        </p:spPr>
      </p:sp>
      <p:sp>
        <p:nvSpPr>
          <p:cNvPr id="9" name="Shape 7"/>
          <p:cNvSpPr/>
          <p:nvPr/>
        </p:nvSpPr>
        <p:spPr>
          <a:xfrm>
            <a:off x="4633306" y="2331635"/>
            <a:ext cx="152400" cy="152400"/>
          </a:xfrm>
          <a:prstGeom prst="roundRect">
            <a:avLst>
              <a:gd name="adj" fmla="val 25000"/>
            </a:avLst>
          </a:prstGeom>
          <a:solidFill>
            <a:srgbClr val="39FF88"/>
          </a:solidFill>
          <a:ln/>
        </p:spPr>
      </p:sp>
      <p:sp>
        <p:nvSpPr>
          <p:cNvPr id="10" name="Text 8"/>
          <p:cNvSpPr/>
          <p:nvPr/>
        </p:nvSpPr>
        <p:spPr>
          <a:xfrm>
            <a:off x="4633306" y="2636434"/>
            <a:ext cx="2963359" cy="247649"/>
          </a:xfrm>
          <a:prstGeom prst="rect">
            <a:avLst/>
          </a:prstGeom>
          <a:noFill/>
          <a:ln/>
        </p:spPr>
        <p:txBody>
          <a:bodyPr wrap="square" lIns="0" tIns="0" rIns="0" bIns="0" rtlCol="0" anchor="t"/>
          <a:lstStyle/>
          <a:p>
            <a:pPr algn="l" indent="0" marL="0">
              <a:lnSpc>
                <a:spcPts val="1800"/>
              </a:lnSpc>
              <a:buNone/>
            </a:pPr>
            <a:r>
              <a:rPr lang="en-US" sz="1500" b="1" dirty="0">
                <a:solidFill>
                  <a:srgbClr val="F4F6F1"/>
                </a:solidFill>
                <a:latin typeface="IBM Plex Sans" pitchFamily="34" charset="0"/>
                <a:ea typeface="IBM Plex Sans" pitchFamily="34" charset="-122"/>
                <a:cs typeface="IBM Plex Sans" pitchFamily="34" charset="-120"/>
              </a:rPr>
              <a:t>A testing guide</a:t>
            </a:r>
            <a:endParaRPr lang="en-US" sz="1500" dirty="0"/>
          </a:p>
        </p:txBody>
      </p:sp>
      <p:sp>
        <p:nvSpPr>
          <p:cNvPr id="11" name="Text 9"/>
          <p:cNvSpPr/>
          <p:nvPr/>
        </p:nvSpPr>
        <p:spPr>
          <a:xfrm>
            <a:off x="4633306" y="2960283"/>
            <a:ext cx="2963359" cy="924320"/>
          </a:xfrm>
          <a:prstGeom prst="rect">
            <a:avLst/>
          </a:prstGeom>
          <a:noFill/>
          <a:ln/>
        </p:spPr>
        <p:txBody>
          <a:bodyPr wrap="square" lIns="0" tIns="0" rIns="0" bIns="0" rtlCol="0" anchor="t"/>
          <a:lstStyle/>
          <a:p>
            <a:pPr algn="l" indent="0" marL="0">
              <a:lnSpc>
                <a:spcPts val="1820"/>
              </a:lnSpc>
              <a:buNone/>
            </a:pPr>
            <a:r>
              <a:rPr lang="en-US" sz="1300" dirty="0">
                <a:solidFill>
                  <a:srgbClr val="A9C9B3"/>
                </a:solidFill>
                <a:latin typeface="IBM Plex Sans" pitchFamily="34" charset="0"/>
                <a:ea typeface="IBM Plex Sans" pitchFamily="34" charset="-122"/>
                <a:cs typeface="IBM Plex Sans" pitchFamily="34" charset="-120"/>
              </a:rPr>
              <a:t>The three layers, how the clock works, the store contract, where failure artifacts land, and the bug-planting recipe.</a:t>
            </a:r>
            <a:endParaRPr lang="en-US" sz="1300" dirty="0"/>
          </a:p>
        </p:txBody>
      </p:sp>
      <p:sp>
        <p:nvSpPr>
          <p:cNvPr id="12" name="Shape 10"/>
          <p:cNvSpPr/>
          <p:nvPr/>
        </p:nvSpPr>
        <p:spPr>
          <a:xfrm>
            <a:off x="7984014" y="2020486"/>
            <a:ext cx="3395158" cy="2121986"/>
          </a:xfrm>
          <a:prstGeom prst="roundRect">
            <a:avLst>
              <a:gd name="adj" fmla="val 3591"/>
            </a:avLst>
          </a:prstGeom>
          <a:solidFill>
            <a:srgbClr val="16201A"/>
          </a:solidFill>
          <a:ln w="12700">
            <a:solidFill>
              <a:srgbClr val="39FF88"/>
            </a:solidFill>
            <a:prstDash val="solid"/>
          </a:ln>
        </p:spPr>
      </p:sp>
      <p:sp>
        <p:nvSpPr>
          <p:cNvPr id="13" name="Shape 11"/>
          <p:cNvSpPr/>
          <p:nvPr/>
        </p:nvSpPr>
        <p:spPr>
          <a:xfrm>
            <a:off x="8225313" y="2337985"/>
            <a:ext cx="152400" cy="152400"/>
          </a:xfrm>
          <a:prstGeom prst="roundRect">
            <a:avLst>
              <a:gd name="adj" fmla="val 25000"/>
            </a:avLst>
          </a:prstGeom>
          <a:solidFill>
            <a:srgbClr val="39FF88"/>
          </a:solidFill>
          <a:ln/>
        </p:spPr>
      </p:sp>
      <p:sp>
        <p:nvSpPr>
          <p:cNvPr id="14" name="Text 12"/>
          <p:cNvSpPr/>
          <p:nvPr/>
        </p:nvSpPr>
        <p:spPr>
          <a:xfrm>
            <a:off x="8225313" y="2642784"/>
            <a:ext cx="2963359" cy="247649"/>
          </a:xfrm>
          <a:prstGeom prst="rect">
            <a:avLst/>
          </a:prstGeom>
          <a:noFill/>
          <a:ln/>
        </p:spPr>
        <p:txBody>
          <a:bodyPr wrap="square" lIns="0" tIns="0" rIns="0" bIns="0" rtlCol="0" anchor="t"/>
          <a:lstStyle/>
          <a:p>
            <a:pPr algn="l" indent="0" marL="0">
              <a:lnSpc>
                <a:spcPts val="1800"/>
              </a:lnSpc>
              <a:buNone/>
            </a:pPr>
            <a:r>
              <a:rPr lang="en-US" sz="1500" b="1" dirty="0">
                <a:solidFill>
                  <a:srgbClr val="F4F6F1"/>
                </a:solidFill>
                <a:latin typeface="IBM Plex Sans" pitchFamily="34" charset="0"/>
                <a:ea typeface="IBM Plex Sans" pitchFamily="34" charset="-122"/>
                <a:cs typeface="IBM Plex Sans" pitchFamily="34" charset="-120"/>
              </a:rPr>
              <a:t>The tag</a:t>
            </a:r>
            <a:endParaRPr lang="en-US" sz="1500" dirty="0"/>
          </a:p>
        </p:txBody>
      </p:sp>
      <p:sp>
        <p:nvSpPr>
          <p:cNvPr id="15" name="Text 13"/>
          <p:cNvSpPr/>
          <p:nvPr/>
        </p:nvSpPr>
        <p:spPr>
          <a:xfrm>
            <a:off x="8225313" y="2966633"/>
            <a:ext cx="2963359" cy="693240"/>
          </a:xfrm>
          <a:prstGeom prst="rect">
            <a:avLst/>
          </a:prstGeom>
          <a:noFill/>
          <a:ln/>
        </p:spPr>
        <p:txBody>
          <a:bodyPr wrap="square" lIns="0" tIns="0" rIns="0" bIns="0" rtlCol="0" anchor="t"/>
          <a:lstStyle/>
          <a:p>
            <a:pPr algn="l" indent="0" marL="0">
              <a:lnSpc>
                <a:spcPts val="1820"/>
              </a:lnSpc>
              <a:buNone/>
            </a:pPr>
            <a:r>
              <a:rPr lang="en-US" sz="1300" dirty="0">
                <a:solidFill>
                  <a:srgbClr val="A9C9B3"/>
                </a:solidFill>
                <a:latin typeface="IBM Plex Sans" pitchFamily="34" charset="0"/>
                <a:ea typeface="IBM Plex Sans" pitchFamily="34" charset="-122"/>
                <a:cs typeface="IBM Plex Sans" pitchFamily="34" charset="-120"/>
              </a:rPr>
              <a:t>The tests at their tag, with a tooling commit on top. Recover here if Part 4 goes sideways.</a:t>
            </a:r>
            <a:endParaRPr lang="en-US" sz="1300" dirty="0"/>
          </a:p>
        </p:txBody>
      </p:sp>
      <p:sp>
        <p:nvSpPr>
          <p:cNvPr id="16" name="Shape 14"/>
          <p:cNvSpPr/>
          <p:nvPr/>
        </p:nvSpPr>
        <p:spPr>
          <a:xfrm>
            <a:off x="812798" y="4396471"/>
            <a:ext cx="10566374" cy="916779"/>
          </a:xfrm>
          <a:prstGeom prst="roundRect">
            <a:avLst>
              <a:gd name="adj" fmla="val 8312"/>
            </a:avLst>
          </a:prstGeom>
          <a:solidFill>
            <a:srgbClr val="111812"/>
          </a:solidFill>
          <a:ln w="9525">
            <a:solidFill>
              <a:srgbClr val="24402C"/>
            </a:solidFill>
            <a:prstDash val="solid"/>
          </a:ln>
        </p:spPr>
      </p:sp>
      <p:sp>
        <p:nvSpPr>
          <p:cNvPr id="17" name="Text 15"/>
          <p:cNvSpPr/>
          <p:nvPr/>
        </p:nvSpPr>
        <p:spPr>
          <a:xfrm>
            <a:off x="1073147" y="4619911"/>
            <a:ext cx="565049" cy="469899"/>
          </a:xfrm>
          <a:prstGeom prst="rect">
            <a:avLst/>
          </a:prstGeom>
          <a:noFill/>
          <a:ln/>
        </p:spPr>
        <p:txBody>
          <a:bodyPr wrap="square" lIns="0" tIns="0" rIns="0" bIns="0" rtlCol="0" anchor="t"/>
          <a:lstStyle/>
          <a:p>
            <a:pPr algn="l" indent="0" marL="0">
              <a:lnSpc>
                <a:spcPts val="1680"/>
              </a:lnSpc>
              <a:buNone/>
            </a:pPr>
            <a:r>
              <a:rPr lang="en-US" sz="1400" dirty="0">
                <a:solidFill>
                  <a:srgbClr val="39FF88"/>
                </a:solidFill>
                <a:latin typeface="JetBrains Mono" pitchFamily="34" charset="0"/>
                <a:ea typeface="JetBrains Mono" pitchFamily="34" charset="-122"/>
                <a:cs typeface="JetBrains Mono" pitchFamily="34" charset="-120"/>
              </a:rPr>
              <a:t>next →</a:t>
            </a:r>
            <a:endParaRPr lang="en-US" sz="1400" dirty="0"/>
          </a:p>
        </p:txBody>
      </p:sp>
      <p:sp>
        <p:nvSpPr>
          <p:cNvPr id="18" name="Text 16"/>
          <p:cNvSpPr/>
          <p:nvPr/>
        </p:nvSpPr>
        <p:spPr>
          <a:xfrm>
            <a:off x="1739796" y="4606021"/>
            <a:ext cx="9429826" cy="497680"/>
          </a:xfrm>
          <a:prstGeom prst="rect">
            <a:avLst/>
          </a:prstGeom>
          <a:noFill/>
          <a:ln/>
        </p:spPr>
        <p:txBody>
          <a:bodyPr wrap="square" lIns="0" tIns="0" rIns="0" bIns="0" rtlCol="0" anchor="t"/>
          <a:lstStyle/>
          <a:p>
            <a:pPr algn="l" indent="0" marL="0">
              <a:lnSpc>
                <a:spcPts val="1960"/>
              </a:lnSpc>
              <a:buNone/>
            </a:pPr>
            <a:r>
              <a:rPr lang="en-US" sz="1400" dirty="0">
                <a:solidFill>
                  <a:srgbClr val="D7F5DD"/>
                </a:solidFill>
                <a:latin typeface="IBM Plex Sans" pitchFamily="34" charset="0"/>
                <a:ea typeface="IBM Plex Sans" pitchFamily="34" charset="-122"/>
                <a:cs typeface="IBM Plex Sans" pitchFamily="34" charset="-120"/>
              </a:rPr>
              <a:t>Part 4 makes it production grade: a pipeline that runs these tests on every push, security headers, a review, and a public address. Tag: part-3-tests.</a:t>
            </a:r>
            <a:endParaRPr lang="en-US" sz="1400" dirty="0"/>
          </a:p>
        </p:txBody>
      </p:sp>
      <p:sp>
        <p:nvSpPr>
          <p:cNvPr id="19" name="Text 17"/>
          <p:cNvSpPr/>
          <p:nvPr/>
        </p:nvSpPr>
        <p:spPr>
          <a:xfrm>
            <a:off x="812798" y="6254734"/>
            <a:ext cx="10617173" cy="196850"/>
          </a:xfrm>
          <a:prstGeom prst="rect">
            <a:avLst/>
          </a:prstGeom>
          <a:noFill/>
          <a:ln/>
        </p:spPr>
        <p:txBody>
          <a:bodyPr wrap="square" lIns="0" tIns="0" rIns="0" bIns="0" rtlCol="0" anchor="t"/>
          <a:lstStyle/>
          <a:p>
            <a:pPr algn="l" indent="0" marL="0">
              <a:lnSpc>
                <a:spcPts val="1440"/>
              </a:lnSpc>
              <a:buNone/>
            </a:pPr>
            <a:r>
              <a:rPr lang="en-US" sz="1200" dirty="0">
                <a:solidFill>
                  <a:srgbClr val="86B394"/>
                </a:solidFill>
                <a:latin typeface="JetBrains Mono" pitchFamily="34" charset="0"/>
                <a:ea typeface="JetBrains Mono" pitchFamily="34" charset="-122"/>
                <a:cs typeface="JetBrains Mono" pitchFamily="34" charset="-120"/>
              </a:rPr>
              <a:t>part 3 · testing</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Levio Engineering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Part 3: Testing</dc:title>
  <dc:subject>PptxGenJS Presentation</dc:subject>
  <dc:creator>PptxGenJS</dc:creator>
  <cp:lastModifiedBy>PptxGenJS</cp:lastModifiedBy>
  <cp:revision>1</cp:revision>
  <dcterms:created xsi:type="dcterms:W3CDTF">2026-10-29T18:55:36Z</dcterms:created>
  <dcterms:modified xsi:type="dcterms:W3CDTF">2026-10-29T18:55:36Z</dcterms:modified>
</cp:coreProperties>
</file>